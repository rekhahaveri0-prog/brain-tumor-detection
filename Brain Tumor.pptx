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7" r:id="rId2"/>
    <p:sldId id="259" r:id="rId3"/>
    <p:sldId id="294" r:id="rId4"/>
    <p:sldId id="295" r:id="rId5"/>
    <p:sldId id="296" r:id="rId6"/>
    <p:sldId id="297" r:id="rId7"/>
    <p:sldId id="298" r:id="rId8"/>
    <p:sldId id="299" r:id="rId9"/>
    <p:sldId id="300" r:id="rId10"/>
    <p:sldId id="301" r:id="rId11"/>
    <p:sldId id="284" r:id="rId12"/>
    <p:sldId id="302" r:id="rId13"/>
    <p:sldId id="303" r:id="rId14"/>
    <p:sldId id="304" r:id="rId15"/>
    <p:sldId id="305" r:id="rId16"/>
    <p:sldId id="306" r:id="rId17"/>
    <p:sldId id="307" r:id="rId18"/>
    <p:sldId id="308" r:id="rId19"/>
    <p:sldId id="309" r:id="rId20"/>
    <p:sldId id="310" r:id="rId21"/>
    <p:sldId id="288" r:id="rId22"/>
    <p:sldId id="290" r:id="rId23"/>
    <p:sldId id="311" r:id="rId24"/>
    <p:sldId id="291" r:id="rId25"/>
    <p:sldId id="292" r:id="rId26"/>
    <p:sldId id="293" r:id="rId27"/>
    <p:sldId id="271"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14727F-B088-4541-909C-9C5702B75AEE}" v="10" dt="2026-04-01T05:15:53.5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1373" autoAdjust="0"/>
  </p:normalViewPr>
  <p:slideViewPr>
    <p:cSldViewPr>
      <p:cViewPr varScale="1">
        <p:scale>
          <a:sx n="63" d="100"/>
          <a:sy n="63" d="100"/>
        </p:scale>
        <p:origin x="-1356" y="-5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nchana V.G" userId="cc833d44a2f0ffdb" providerId="LiveId" clId="{25545F65-E275-40B6-9281-0F60B3FE92A5}"/>
    <pc:docChg chg="undo custSel addSld modSld">
      <pc:chgData name="Sinchana V.G" userId="cc833d44a2f0ffdb" providerId="LiveId" clId="{25545F65-E275-40B6-9281-0F60B3FE92A5}" dt="2026-04-01T05:32:53.982" v="550" actId="20577"/>
      <pc:docMkLst>
        <pc:docMk/>
      </pc:docMkLst>
      <pc:sldChg chg="modSp mod">
        <pc:chgData name="Sinchana V.G" userId="cc833d44a2f0ffdb" providerId="LiveId" clId="{25545F65-E275-40B6-9281-0F60B3FE92A5}" dt="2026-04-01T05:30:02.965" v="432" actId="20577"/>
        <pc:sldMkLst>
          <pc:docMk/>
          <pc:sldMk cId="0" sldId="257"/>
        </pc:sldMkLst>
        <pc:spChg chg="mod">
          <ac:chgData name="Sinchana V.G" userId="cc833d44a2f0ffdb" providerId="LiveId" clId="{25545F65-E275-40B6-9281-0F60B3FE92A5}" dt="2026-04-01T05:20:06.494" v="382" actId="403"/>
          <ac:spMkLst>
            <pc:docMk/>
            <pc:sldMk cId="0" sldId="257"/>
            <ac:spMk id="3" creationId="{00000000-0000-0000-0000-000000000000}"/>
          </ac:spMkLst>
        </pc:spChg>
        <pc:spChg chg="mod">
          <ac:chgData name="Sinchana V.G" userId="cc833d44a2f0ffdb" providerId="LiveId" clId="{25545F65-E275-40B6-9281-0F60B3FE92A5}" dt="2026-04-01T05:30:02.965" v="432" actId="20577"/>
          <ac:spMkLst>
            <pc:docMk/>
            <pc:sldMk cId="0" sldId="257"/>
            <ac:spMk id="5" creationId="{3C1E141D-067C-D7B3-8646-8634D528DD5D}"/>
          </ac:spMkLst>
        </pc:spChg>
      </pc:sldChg>
      <pc:sldChg chg="modSp mod">
        <pc:chgData name="Sinchana V.G" userId="cc833d44a2f0ffdb" providerId="LiveId" clId="{25545F65-E275-40B6-9281-0F60B3FE92A5}" dt="2026-04-01T05:27:02.720" v="425" actId="20577"/>
        <pc:sldMkLst>
          <pc:docMk/>
          <pc:sldMk cId="3604905776" sldId="259"/>
        </pc:sldMkLst>
        <pc:spChg chg="mod">
          <ac:chgData name="Sinchana V.G" userId="cc833d44a2f0ffdb" providerId="LiveId" clId="{25545F65-E275-40B6-9281-0F60B3FE92A5}" dt="2026-04-01T05:27:02.720" v="425" actId="20577"/>
          <ac:spMkLst>
            <pc:docMk/>
            <pc:sldMk cId="3604905776" sldId="259"/>
            <ac:spMk id="2" creationId="{808F51B5-021D-BF24-1854-65E785758288}"/>
          </ac:spMkLst>
        </pc:spChg>
      </pc:sldChg>
      <pc:sldChg chg="modSp mod">
        <pc:chgData name="Sinchana V.G" userId="cc833d44a2f0ffdb" providerId="LiveId" clId="{25545F65-E275-40B6-9281-0F60B3FE92A5}" dt="2026-04-01T05:32:53.982" v="550" actId="20577"/>
        <pc:sldMkLst>
          <pc:docMk/>
          <pc:sldMk cId="1445598385" sldId="262"/>
        </pc:sldMkLst>
        <pc:spChg chg="mod">
          <ac:chgData name="Sinchana V.G" userId="cc833d44a2f0ffdb" providerId="LiveId" clId="{25545F65-E275-40B6-9281-0F60B3FE92A5}" dt="2026-04-01T05:32:53.982" v="550" actId="20577"/>
          <ac:spMkLst>
            <pc:docMk/>
            <pc:sldMk cId="1445598385" sldId="262"/>
            <ac:spMk id="2" creationId="{5AD81D47-5A96-65AA-7837-7A6BC064AAF2}"/>
          </ac:spMkLst>
        </pc:spChg>
      </pc:sldChg>
      <pc:sldChg chg="addSp delSp modSp mod">
        <pc:chgData name="Sinchana V.G" userId="cc833d44a2f0ffdb" providerId="LiveId" clId="{25545F65-E275-40B6-9281-0F60B3FE92A5}" dt="2026-04-01T05:32:32.857" v="534" actId="20577"/>
        <pc:sldMkLst>
          <pc:docMk/>
          <pc:sldMk cId="1152095403" sldId="271"/>
        </pc:sldMkLst>
        <pc:spChg chg="add del mod">
          <ac:chgData name="Sinchana V.G" userId="cc833d44a2f0ffdb" providerId="LiveId" clId="{25545F65-E275-40B6-9281-0F60B3FE92A5}" dt="2026-04-01T05:32:32.857" v="534" actId="20577"/>
          <ac:spMkLst>
            <pc:docMk/>
            <pc:sldMk cId="1152095403" sldId="271"/>
            <ac:spMk id="2" creationId="{136093D3-B52C-097F-10D7-9685F97A17AE}"/>
          </ac:spMkLst>
        </pc:spChg>
        <pc:spChg chg="mod">
          <ac:chgData name="Sinchana V.G" userId="cc833d44a2f0ffdb" providerId="LiveId" clId="{25545F65-E275-40B6-9281-0F60B3FE92A5}" dt="2026-04-01T04:47:05.328" v="305" actId="20577"/>
          <ac:spMkLst>
            <pc:docMk/>
            <pc:sldMk cId="1152095403" sldId="271"/>
            <ac:spMk id="3" creationId="{E79DEF10-1D29-878D-C935-23B81B624D52}"/>
          </ac:spMkLst>
        </pc:spChg>
      </pc:sldChg>
      <pc:sldChg chg="modSp mod">
        <pc:chgData name="Sinchana V.G" userId="cc833d44a2f0ffdb" providerId="LiveId" clId="{25545F65-E275-40B6-9281-0F60B3FE92A5}" dt="2026-04-01T05:30:43.112" v="451" actId="1036"/>
        <pc:sldMkLst>
          <pc:docMk/>
          <pc:sldMk cId="119733183" sldId="276"/>
        </pc:sldMkLst>
        <pc:spChg chg="mod">
          <ac:chgData name="Sinchana V.G" userId="cc833d44a2f0ffdb" providerId="LiveId" clId="{25545F65-E275-40B6-9281-0F60B3FE92A5}" dt="2026-04-01T05:30:31.832" v="450" actId="20577"/>
          <ac:spMkLst>
            <pc:docMk/>
            <pc:sldMk cId="119733183" sldId="276"/>
            <ac:spMk id="2" creationId="{B6DE31ED-4BE2-B6C3-3C30-DD080B24E244}"/>
          </ac:spMkLst>
        </pc:spChg>
        <pc:spChg chg="mod">
          <ac:chgData name="Sinchana V.G" userId="cc833d44a2f0ffdb" providerId="LiveId" clId="{25545F65-E275-40B6-9281-0F60B3FE92A5}" dt="2026-04-01T05:30:43.112" v="451" actId="1036"/>
          <ac:spMkLst>
            <pc:docMk/>
            <pc:sldMk cId="119733183" sldId="276"/>
            <ac:spMk id="5" creationId="{DBFABCEC-3843-5018-72B7-53A66C3A2C1A}"/>
          </ac:spMkLst>
        </pc:spChg>
      </pc:sldChg>
      <pc:sldChg chg="modSp mod">
        <pc:chgData name="Sinchana V.G" userId="cc833d44a2f0ffdb" providerId="LiveId" clId="{25545F65-E275-40B6-9281-0F60B3FE92A5}" dt="2026-04-01T05:31:00.583" v="468" actId="20577"/>
        <pc:sldMkLst>
          <pc:docMk/>
          <pc:sldMk cId="2542886509" sldId="278"/>
        </pc:sldMkLst>
        <pc:spChg chg="mod">
          <ac:chgData name="Sinchana V.G" userId="cc833d44a2f0ffdb" providerId="LiveId" clId="{25545F65-E275-40B6-9281-0F60B3FE92A5}" dt="2026-04-01T04:29:56.897" v="36" actId="20577"/>
          <ac:spMkLst>
            <pc:docMk/>
            <pc:sldMk cId="2542886509" sldId="278"/>
            <ac:spMk id="2" creationId="{5A285461-2E16-B756-4717-B9357EBFCA5D}"/>
          </ac:spMkLst>
        </pc:spChg>
        <pc:spChg chg="mod">
          <ac:chgData name="Sinchana V.G" userId="cc833d44a2f0ffdb" providerId="LiveId" clId="{25545F65-E275-40B6-9281-0F60B3FE92A5}" dt="2026-04-01T05:31:00.583" v="468" actId="20577"/>
          <ac:spMkLst>
            <pc:docMk/>
            <pc:sldMk cId="2542886509" sldId="278"/>
            <ac:spMk id="3" creationId="{68E2A9A8-EED8-C639-63D0-865E389FBC14}"/>
          </ac:spMkLst>
        </pc:spChg>
        <pc:spChg chg="mod">
          <ac:chgData name="Sinchana V.G" userId="cc833d44a2f0ffdb" providerId="LiveId" clId="{25545F65-E275-40B6-9281-0F60B3FE92A5}" dt="2026-04-01T05:22:24.047" v="403" actId="20577"/>
          <ac:spMkLst>
            <pc:docMk/>
            <pc:sldMk cId="2542886509" sldId="278"/>
            <ac:spMk id="5" creationId="{04D0CE9A-3599-EC69-D818-B5D50382ADD2}"/>
          </ac:spMkLst>
        </pc:spChg>
      </pc:sldChg>
      <pc:sldChg chg="addSp delSp modSp mod">
        <pc:chgData name="Sinchana V.G" userId="cc833d44a2f0ffdb" providerId="LiveId" clId="{25545F65-E275-40B6-9281-0F60B3FE92A5}" dt="2026-04-01T05:31:15.186" v="483" actId="20577"/>
        <pc:sldMkLst>
          <pc:docMk/>
          <pc:sldMk cId="4138416247" sldId="279"/>
        </pc:sldMkLst>
        <pc:spChg chg="del">
          <ac:chgData name="Sinchana V.G" userId="cc833d44a2f0ffdb" providerId="LiveId" clId="{25545F65-E275-40B6-9281-0F60B3FE92A5}" dt="2026-04-01T05:14:14.853" v="333" actId="478"/>
          <ac:spMkLst>
            <pc:docMk/>
            <pc:sldMk cId="4138416247" sldId="279"/>
            <ac:spMk id="2" creationId="{9DCBB6E8-F4C4-6055-1AF4-DB27ABBEBCB3}"/>
          </ac:spMkLst>
        </pc:spChg>
        <pc:spChg chg="mod">
          <ac:chgData name="Sinchana V.G" userId="cc833d44a2f0ffdb" providerId="LiveId" clId="{25545F65-E275-40B6-9281-0F60B3FE92A5}" dt="2026-04-01T05:31:15.186" v="483" actId="20577"/>
          <ac:spMkLst>
            <pc:docMk/>
            <pc:sldMk cId="4138416247" sldId="279"/>
            <ac:spMk id="3" creationId="{6AA74109-E4A6-3210-5C32-4FECE48B5B96}"/>
          </ac:spMkLst>
        </pc:spChg>
        <pc:spChg chg="mod">
          <ac:chgData name="Sinchana V.G" userId="cc833d44a2f0ffdb" providerId="LiveId" clId="{25545F65-E275-40B6-9281-0F60B3FE92A5}" dt="2026-04-01T05:22:40.537" v="406" actId="20577"/>
          <ac:spMkLst>
            <pc:docMk/>
            <pc:sldMk cId="4138416247" sldId="279"/>
            <ac:spMk id="5" creationId="{9B3DC296-36A0-5EBB-7DF3-86CF99A3EC1B}"/>
          </ac:spMkLst>
        </pc:spChg>
        <pc:spChg chg="add del mod">
          <ac:chgData name="Sinchana V.G" userId="cc833d44a2f0ffdb" providerId="LiveId" clId="{25545F65-E275-40B6-9281-0F60B3FE92A5}" dt="2026-04-01T05:14:18.445" v="334" actId="478"/>
          <ac:spMkLst>
            <pc:docMk/>
            <pc:sldMk cId="4138416247" sldId="279"/>
            <ac:spMk id="7" creationId="{4AC5C0F9-2B8F-4911-15B4-7A9EC138D799}"/>
          </ac:spMkLst>
        </pc:spChg>
      </pc:sldChg>
      <pc:sldChg chg="delSp modSp mod">
        <pc:chgData name="Sinchana V.G" userId="cc833d44a2f0ffdb" providerId="LiveId" clId="{25545F65-E275-40B6-9281-0F60B3FE92A5}" dt="2026-04-01T05:32:09.408" v="515" actId="20577"/>
        <pc:sldMkLst>
          <pc:docMk/>
          <pc:sldMk cId="3057362428" sldId="280"/>
        </pc:sldMkLst>
        <pc:spChg chg="del">
          <ac:chgData name="Sinchana V.G" userId="cc833d44a2f0ffdb" providerId="LiveId" clId="{25545F65-E275-40B6-9281-0F60B3FE92A5}" dt="2026-04-01T04:30:50.371" v="37" actId="478"/>
          <ac:spMkLst>
            <pc:docMk/>
            <pc:sldMk cId="3057362428" sldId="280"/>
            <ac:spMk id="2" creationId="{D2A63D2B-D6E4-0B7D-9100-F2BAF3F58B94}"/>
          </ac:spMkLst>
        </pc:spChg>
        <pc:spChg chg="mod">
          <ac:chgData name="Sinchana V.G" userId="cc833d44a2f0ffdb" providerId="LiveId" clId="{25545F65-E275-40B6-9281-0F60B3FE92A5}" dt="2026-04-01T05:32:09.408" v="515" actId="20577"/>
          <ac:spMkLst>
            <pc:docMk/>
            <pc:sldMk cId="3057362428" sldId="280"/>
            <ac:spMk id="3" creationId="{BC83301B-2168-76AF-1BE8-368F33DF6035}"/>
          </ac:spMkLst>
        </pc:spChg>
        <pc:spChg chg="mod">
          <ac:chgData name="Sinchana V.G" userId="cc833d44a2f0ffdb" providerId="LiveId" clId="{25545F65-E275-40B6-9281-0F60B3FE92A5}" dt="2026-04-01T05:21:50.593" v="401" actId="27636"/>
          <ac:spMkLst>
            <pc:docMk/>
            <pc:sldMk cId="3057362428" sldId="280"/>
            <ac:spMk id="5" creationId="{0AEADEB0-1E0F-3F53-A200-FE67EC42DCD4}"/>
          </ac:spMkLst>
        </pc:spChg>
      </pc:sldChg>
      <pc:sldChg chg="delSp modSp new mod">
        <pc:chgData name="Sinchana V.G" userId="cc833d44a2f0ffdb" providerId="LiveId" clId="{25545F65-E275-40B6-9281-0F60B3FE92A5}" dt="2026-04-01T05:31:56.744" v="500" actId="20577"/>
        <pc:sldMkLst>
          <pc:docMk/>
          <pc:sldMk cId="1023381145" sldId="281"/>
        </pc:sldMkLst>
        <pc:spChg chg="del">
          <ac:chgData name="Sinchana V.G" userId="cc833d44a2f0ffdb" providerId="LiveId" clId="{25545F65-E275-40B6-9281-0F60B3FE92A5}" dt="2026-04-01T05:15:32.417" v="345" actId="478"/>
          <ac:spMkLst>
            <pc:docMk/>
            <pc:sldMk cId="1023381145" sldId="281"/>
            <ac:spMk id="2" creationId="{B7CBEBB1-0F45-4C95-B729-C3E770E474C3}"/>
          </ac:spMkLst>
        </pc:spChg>
        <pc:spChg chg="mod">
          <ac:chgData name="Sinchana V.G" userId="cc833d44a2f0ffdb" providerId="LiveId" clId="{25545F65-E275-40B6-9281-0F60B3FE92A5}" dt="2026-04-01T05:31:56.744" v="500" actId="20577"/>
          <ac:spMkLst>
            <pc:docMk/>
            <pc:sldMk cId="1023381145" sldId="281"/>
            <ac:spMk id="3" creationId="{6217C9D1-3845-57B2-55E6-16EF55BEC184}"/>
          </ac:spMkLst>
        </pc:spChg>
        <pc:spChg chg="mod">
          <ac:chgData name="Sinchana V.G" userId="cc833d44a2f0ffdb" providerId="LiveId" clId="{25545F65-E275-40B6-9281-0F60B3FE92A5}" dt="2026-04-01T05:22:32.327" v="404" actId="20577"/>
          <ac:spMkLst>
            <pc:docMk/>
            <pc:sldMk cId="1023381145" sldId="281"/>
            <ac:spMk id="5" creationId="{9F8B554B-5A16-18C7-7671-45F0559FDDD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36843A-087E-4CC2-9C7F-155784EBBDE7}" type="datetimeFigureOut">
              <a:rPr lang="en-IN" smtClean="0"/>
              <a:pPr/>
              <a:t>06-06-2026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ED6EAE-A29E-4704-AE0E-0C2379BF3A64}" type="slidenum">
              <a:rPr lang="en-IN" smtClean="0"/>
              <a:pPr/>
              <a:t>‹#›</a:t>
            </a:fld>
            <a:endParaRPr lang="en-IN"/>
          </a:p>
        </p:txBody>
      </p:sp>
    </p:spTree>
    <p:extLst>
      <p:ext uri="{BB962C8B-B14F-4D97-AF65-F5344CB8AC3E}">
        <p14:creationId xmlns="" xmlns:p14="http://schemas.microsoft.com/office/powerpoint/2010/main" val="3252566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A191AA00-9846-4846-AAA7-4358D99445D2}" type="datetime3">
              <a:rPr lang="en-US" smtClean="0"/>
              <a:pPr/>
              <a:t>6 June 2026</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846F2FBE-2846-4A92-A491-395E27355705}"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BFE088B6-D9B0-4B94-A8AB-2409299F1F67}" type="datetime3">
              <a:rPr lang="en-US" smtClean="0"/>
              <a:pPr/>
              <a:t>6 June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6F2FBE-2846-4A92-A491-395E27355705}"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9899FF00-BA4E-4099-ADC6-2BD28CB14C64}" type="datetime3">
              <a:rPr lang="en-US" smtClean="0"/>
              <a:pPr/>
              <a:t>6 June 2026</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846F2FBE-2846-4A92-A491-395E27355705}"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EE3B99C4-E7B6-4E56-BD0D-FDFECA11F80A}" type="datetime3">
              <a:rPr lang="en-US" smtClean="0"/>
              <a:pPr/>
              <a:t>6 June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6F2FBE-2846-4A92-A491-395E27355705}"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11C5B76E-834F-4F25-888C-5A97C14EFFE1}" type="datetime3">
              <a:rPr lang="en-US" smtClean="0"/>
              <a:pPr/>
              <a:t>6 June 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6F2FBE-2846-4A92-A491-395E27355705}"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A8BEB98F-F9EA-4C95-AA10-E1B6040F9091}" type="datetime3">
              <a:rPr lang="en-US" smtClean="0"/>
              <a:pPr/>
              <a:t>6 June 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6F2FBE-2846-4A92-A491-395E2735570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1DD2B6-AD54-46E4-9C0E-8563355EC1AC}" type="datetime3">
              <a:rPr lang="en-US" smtClean="0"/>
              <a:pPr/>
              <a:t>6 June 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6F2FBE-2846-4A92-A491-395E2735570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38E41F8-A4EB-49D1-8D86-5EC07A621B5D}" type="datetime3">
              <a:rPr lang="en-US" smtClean="0"/>
              <a:pPr/>
              <a:t>6 June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6F2FBE-2846-4A92-A491-395E27355705}"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65B45FB-A864-4763-ADB6-C3BE32DCC3AE}" type="datetime3">
              <a:rPr lang="en-US" smtClean="0"/>
              <a:pPr/>
              <a:t>6 June 2026</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846F2FBE-2846-4A92-A491-395E27355705}"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8BFF04-B256-4967-A2E4-76E2469A5AF6}" type="datetime3">
              <a:rPr lang="en-US" smtClean="0"/>
              <a:pPr/>
              <a:t>6 June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6F2FBE-2846-4A92-A491-395E2735570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04A2BD2-F683-4F70-9EA0-7CC6709C6EFC}" type="datetime3">
              <a:rPr lang="en-US" smtClean="0"/>
              <a:pPr/>
              <a:t>6 June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6F2FBE-2846-4A92-A491-395E2735570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56EEEF7C-F7EA-4319-BAD6-49F3EFDCD2BD}" type="datetime3">
              <a:rPr lang="en-US" smtClean="0"/>
              <a:pPr/>
              <a:t>6 June 2026</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846F2FBE-2846-4A92-A491-395E2735570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python.org/" TargetMode="External"/><Relationship Id="rId7" Type="http://schemas.openxmlformats.org/officeDocument/2006/relationships/hyperlink" Target="https://opencv.org/" TargetMode="External"/><Relationship Id="rId2" Type="http://schemas.openxmlformats.org/officeDocument/2006/relationships/hyperlink" Target="https://www.kaggle.com/" TargetMode="External"/><Relationship Id="rId1" Type="http://schemas.openxmlformats.org/officeDocument/2006/relationships/slideLayout" Target="../slideLayouts/slideLayout2.xml"/><Relationship Id="rId6" Type="http://schemas.openxmlformats.org/officeDocument/2006/relationships/hyperlink" Target="https://scikit-learn.org/" TargetMode="External"/><Relationship Id="rId5" Type="http://schemas.openxmlformats.org/officeDocument/2006/relationships/hyperlink" Target="https://keras.io/" TargetMode="External"/><Relationship Id="rId4" Type="http://schemas.openxmlformats.org/officeDocument/2006/relationships/hyperlink" Target="https://www.tensorflow.org/"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3123227"/>
            <a:ext cx="8577262" cy="3486329"/>
          </a:xfrm>
        </p:spPr>
        <p:txBody>
          <a:bodyPr>
            <a:normAutofit/>
          </a:bodyPr>
          <a:lstStyle/>
          <a:p>
            <a:r>
              <a:rPr lang="en-US" sz="2000" b="1" dirty="0">
                <a:solidFill>
                  <a:schemeClr val="tx1">
                    <a:lumMod val="85000"/>
                    <a:lumOff val="15000"/>
                  </a:schemeClr>
                </a:solidFill>
                <a:latin typeface="Bookman Old Style" pitchFamily="18" charset="0"/>
              </a:rPr>
              <a:t>By</a:t>
            </a:r>
          </a:p>
          <a:p>
            <a:pPr algn="ctr"/>
            <a:r>
              <a:rPr lang="en-US" sz="2400" err="1" smtClean="0">
                <a:solidFill>
                  <a:schemeClr val="tx1"/>
                </a:solidFill>
                <a:latin typeface="Times New Roman" panose="02020603050405020304" pitchFamily="18" charset="0"/>
                <a:cs typeface="Times New Roman" panose="02020603050405020304" pitchFamily="18" charset="0"/>
              </a:rPr>
              <a:t>Rekha</a:t>
            </a:r>
            <a:r>
              <a:rPr lang="en-US" sz="2400" smtClean="0">
                <a:solidFill>
                  <a:schemeClr val="tx1"/>
                </a:solidFill>
                <a:latin typeface="Times New Roman" panose="02020603050405020304" pitchFamily="18" charset="0"/>
                <a:cs typeface="Times New Roman" panose="02020603050405020304" pitchFamily="18" charset="0"/>
              </a:rPr>
              <a:t>  Huchappa </a:t>
            </a:r>
            <a:r>
              <a:rPr lang="en-US" sz="2400" dirty="0" err="1" smtClean="0">
                <a:solidFill>
                  <a:schemeClr val="tx1"/>
                </a:solidFill>
                <a:latin typeface="Times New Roman" panose="02020603050405020304" pitchFamily="18" charset="0"/>
                <a:cs typeface="Times New Roman" panose="02020603050405020304" pitchFamily="18" charset="0"/>
              </a:rPr>
              <a:t>Haveri</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smtClean="0">
                <a:solidFill>
                  <a:schemeClr val="tx1"/>
                </a:solidFill>
                <a:latin typeface="Times New Roman" panose="02020603050405020304" pitchFamily="18" charset="0"/>
                <a:cs typeface="Times New Roman" panose="02020603050405020304" pitchFamily="18" charset="0"/>
              </a:rPr>
              <a:t>U02IS23S0092</a:t>
            </a:r>
            <a:endParaRPr lang="en-US" sz="2400" dirty="0">
              <a:solidFill>
                <a:schemeClr val="tx1"/>
              </a:solidFill>
              <a:latin typeface="Times New Roman" panose="02020603050405020304" pitchFamily="18" charset="0"/>
              <a:cs typeface="Times New Roman" panose="02020603050405020304" pitchFamily="18" charset="0"/>
            </a:endParaRPr>
          </a:p>
          <a:p>
            <a:pPr algn="ctr"/>
            <a:endParaRPr lang="en-US" sz="2400" dirty="0">
              <a:solidFill>
                <a:schemeClr val="tx1"/>
              </a:solidFill>
              <a:latin typeface="Times New Roman" panose="02020603050405020304" pitchFamily="18" charset="0"/>
              <a:cs typeface="Times New Roman" panose="02020603050405020304" pitchFamily="18" charset="0"/>
            </a:endParaRPr>
          </a:p>
          <a:p>
            <a:pPr marL="234950" marR="70485" algn="ctr">
              <a:spcAft>
                <a:spcPts val="0"/>
              </a:spcAft>
            </a:pP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Under The Guidance of</a:t>
            </a:r>
            <a:endParaRPr lang="en-IN"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236855" marR="70485">
              <a:lnSpc>
                <a:spcPts val="1605"/>
              </a:lnSpc>
              <a:spcBef>
                <a:spcPts val="5"/>
              </a:spcBef>
              <a:spcAft>
                <a:spcPts val="600"/>
              </a:spcAft>
            </a:pPr>
            <a:endParaRPr lang="en-US" sz="24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pPr marL="236855" marR="70485">
              <a:lnSpc>
                <a:spcPts val="1605"/>
              </a:lnSpc>
              <a:spcBef>
                <a:spcPts val="5"/>
              </a:spcBef>
              <a:spcAft>
                <a:spcPts val="600"/>
              </a:spcAft>
            </a:pPr>
            <a:r>
              <a:rPr lang="en-US" sz="2400"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Asst Prof. </a:t>
            </a:r>
            <a:r>
              <a:rPr lang="en-US" sz="2400" dirty="0" err="1"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Ashmeera</a:t>
            </a:r>
            <a:r>
              <a:rPr lang="en-US" sz="2400"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err="1"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Haliyal</a:t>
            </a:r>
            <a:endParaRPr lang="en-US" sz="24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pPr marL="236855" marR="70485">
              <a:lnSpc>
                <a:spcPts val="1605"/>
              </a:lnSpc>
              <a:spcBef>
                <a:spcPts val="5"/>
              </a:spcBef>
              <a:spcAft>
                <a:spcPts val="600"/>
              </a:spcAft>
            </a:pPr>
            <a:endParaRPr lang="en-US" sz="24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pPr marL="236855" marR="70485">
              <a:lnSpc>
                <a:spcPts val="1605"/>
              </a:lnSpc>
              <a:spcBef>
                <a:spcPts val="5"/>
              </a:spcBef>
              <a:spcAft>
                <a:spcPts val="600"/>
              </a:spcAft>
            </a:pPr>
            <a:endParaRPr lang="en-US" sz="24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pPr marL="236855" marR="70485">
              <a:lnSpc>
                <a:spcPts val="1605"/>
              </a:lnSpc>
              <a:spcBef>
                <a:spcPts val="5"/>
              </a:spcBef>
              <a:spcAft>
                <a:spcPts val="600"/>
              </a:spcAft>
            </a:pPr>
            <a:r>
              <a:rPr lang="en-US" sz="24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Department </a:t>
            </a:r>
            <a:r>
              <a:rPr lang="en-US" sz="2400"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of Bachelor’s </a:t>
            </a:r>
            <a:r>
              <a:rPr lang="en-US" sz="24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of Computer Application</a:t>
            </a: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 xmlns:a16="http://schemas.microsoft.com/office/drawing/2014/main" id="{3C1E141D-067C-D7B3-8646-8634D528DD5D}"/>
              </a:ext>
            </a:extLst>
          </p:cNvPr>
          <p:cNvSpPr>
            <a:spLocks noGrp="1"/>
          </p:cNvSpPr>
          <p:nvPr>
            <p:ph type="dt" sz="half" idx="10"/>
          </p:nvPr>
        </p:nvSpPr>
        <p:spPr>
          <a:xfrm>
            <a:off x="6172200" y="6400800"/>
            <a:ext cx="2476500" cy="266700"/>
          </a:xfrm>
        </p:spPr>
        <p:txBody>
          <a:bodyPr/>
          <a:lstStyle/>
          <a:p>
            <a:r>
              <a:rPr lang="en-US" dirty="0" smtClean="0"/>
              <a:t>1 June </a:t>
            </a:r>
            <a:r>
              <a:rPr lang="en-US" dirty="0"/>
              <a:t>2026</a:t>
            </a:r>
          </a:p>
        </p:txBody>
      </p:sp>
      <p:sp>
        <p:nvSpPr>
          <p:cNvPr id="7" name="Slide Number Placeholder 6">
            <a:extLst>
              <a:ext uri="{FF2B5EF4-FFF2-40B4-BE49-F238E27FC236}">
                <a16:creationId xmlns="" xmlns:a16="http://schemas.microsoft.com/office/drawing/2014/main" id="{9941568D-8ADB-5928-5051-4CC1A790BA8B}"/>
              </a:ext>
            </a:extLst>
          </p:cNvPr>
          <p:cNvSpPr>
            <a:spLocks noGrp="1"/>
          </p:cNvSpPr>
          <p:nvPr>
            <p:ph type="sldNum" sz="quarter" idx="12"/>
          </p:nvPr>
        </p:nvSpPr>
        <p:spPr>
          <a:solidFill>
            <a:srgbClr val="7030A0"/>
          </a:solidFill>
          <a:scene3d>
            <a:camera prst="orthographicFront"/>
            <a:lightRig rig="threePt" dir="t"/>
          </a:scene3d>
          <a:sp3d>
            <a:bevelT/>
          </a:sp3d>
        </p:spPr>
        <p:txBody>
          <a:bodyPr/>
          <a:lstStyle/>
          <a:p>
            <a:fld id="{846F2FBE-2846-4A92-A491-395E27355705}" type="slidenum">
              <a:rPr lang="en-US" smtClean="0"/>
              <a:pPr/>
              <a:t>1</a:t>
            </a:fld>
            <a:endParaRPr lang="en-US" dirty="0"/>
          </a:p>
        </p:txBody>
      </p:sp>
      <p:sp>
        <p:nvSpPr>
          <p:cNvPr id="2" name="Title 1"/>
          <p:cNvSpPr>
            <a:spLocks noGrp="1"/>
          </p:cNvSpPr>
          <p:nvPr>
            <p:ph type="ctrTitle"/>
          </p:nvPr>
        </p:nvSpPr>
        <p:spPr>
          <a:xfrm>
            <a:off x="0" y="1371600"/>
            <a:ext cx="9143999" cy="1676400"/>
          </a:xfrm>
          <a:solidFill>
            <a:srgbClr val="7030A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ormAutofit fontScale="90000"/>
          </a:bodyPr>
          <a:lstStyle/>
          <a:p>
            <a:r>
              <a:rPr sz="4400" b="1" smtClean="0">
                <a:latin typeface="Times New Roman" pitchFamily="18" charset="0"/>
                <a:cs typeface="Times New Roman" pitchFamily="18" charset="0"/>
              </a:rPr>
              <a:t>Brain Tumor Detection Using Machine learning</a:t>
            </a:r>
            <a:r>
              <a:rPr lang="en-IN" dirty="0"/>
              <a:t/>
            </a:r>
            <a:br>
              <a:rPr lang="en-IN" dirty="0"/>
            </a:br>
            <a:endParaRPr lang="en-US" sz="2000" b="1" dirty="0">
              <a:latin typeface="Cambria" panose="02040503050406030204" pitchFamily="18" charset="0"/>
              <a:ea typeface="Cambria" panose="02040503050406030204" pitchFamily="18" charset="0"/>
            </a:endParaRPr>
          </a:p>
        </p:txBody>
      </p:sp>
      <p:sp>
        <p:nvSpPr>
          <p:cNvPr id="4" name="Rectangle 4">
            <a:extLst>
              <a:ext uri="{FF2B5EF4-FFF2-40B4-BE49-F238E27FC236}">
                <a16:creationId xmlns="" xmlns:a16="http://schemas.microsoft.com/office/drawing/2014/main" id="{C83B6E1F-352D-4DFC-A871-6BE0E55AA125}"/>
              </a:ext>
            </a:extLst>
          </p:cNvPr>
          <p:cNvSpPr>
            <a:spLocks noChangeArrowheads="1"/>
          </p:cNvSpPr>
          <p:nvPr/>
        </p:nvSpPr>
        <p:spPr bwMode="auto">
          <a:xfrm flipV="1">
            <a:off x="7086599" y="-413444"/>
            <a:ext cx="5404619" cy="4571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2054" name="Picture 294">
            <a:extLst>
              <a:ext uri="{FF2B5EF4-FFF2-40B4-BE49-F238E27FC236}">
                <a16:creationId xmlns="" xmlns:a16="http://schemas.microsoft.com/office/drawing/2014/main" id="{D820A1BD-BAE5-5440-F4D3-8339BA40F20F}"/>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7462121" y="295872"/>
            <a:ext cx="822325" cy="962025"/>
          </a:xfrm>
          <a:prstGeom prst="rect">
            <a:avLst/>
          </a:prstGeom>
          <a:noFill/>
          <a:extLst>
            <a:ext uri="{909E8E84-426E-40DD-AFC4-6F175D3DCCD1}">
              <a14:hiddenFill xmlns="" xmlns:a14="http://schemas.microsoft.com/office/drawing/2010/main">
                <a:solidFill>
                  <a:srgbClr val="FFFFFF"/>
                </a:solidFill>
              </a14:hiddenFill>
            </a:ext>
          </a:extLst>
        </p:spPr>
      </p:pic>
      <p:pic>
        <p:nvPicPr>
          <p:cNvPr id="2053" name="Picture 292">
            <a:extLst>
              <a:ext uri="{FF2B5EF4-FFF2-40B4-BE49-F238E27FC236}">
                <a16:creationId xmlns="" xmlns:a16="http://schemas.microsoft.com/office/drawing/2014/main" id="{99493513-391C-D0A9-1C21-1F1FD81FE53A}"/>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402430" y="280399"/>
            <a:ext cx="919163" cy="914400"/>
          </a:xfrm>
          <a:prstGeom prst="rect">
            <a:avLst/>
          </a:prstGeom>
          <a:noFill/>
          <a:extLst>
            <a:ext uri="{909E8E84-426E-40DD-AFC4-6F175D3DCCD1}">
              <a14:hiddenFill xmlns="" xmlns:a14="http://schemas.microsoft.com/office/drawing/2010/main">
                <a:solidFill>
                  <a:srgbClr val="FFFFFF"/>
                </a:solidFill>
              </a14:hiddenFill>
            </a:ext>
          </a:extLst>
        </p:spPr>
      </p:pic>
      <p:sp>
        <p:nvSpPr>
          <p:cNvPr id="11" name="Rectangle 7">
            <a:extLst>
              <a:ext uri="{FF2B5EF4-FFF2-40B4-BE49-F238E27FC236}">
                <a16:creationId xmlns="" xmlns:a16="http://schemas.microsoft.com/office/drawing/2014/main" id="{7C2129CA-F852-442A-4E4A-A6511D18CB5C}"/>
              </a:ext>
            </a:extLst>
          </p:cNvPr>
          <p:cNvSpPr>
            <a:spLocks noChangeArrowheads="1"/>
          </p:cNvSpPr>
          <p:nvPr/>
        </p:nvSpPr>
        <p:spPr bwMode="auto">
          <a:xfrm>
            <a:off x="862012" y="579291"/>
            <a:ext cx="91440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2" name="Rectangle 8">
            <a:extLst>
              <a:ext uri="{FF2B5EF4-FFF2-40B4-BE49-F238E27FC236}">
                <a16:creationId xmlns="" xmlns:a16="http://schemas.microsoft.com/office/drawing/2014/main" id="{CCF12FFB-3DA5-D38F-FA32-4D6895F0B738}"/>
              </a:ext>
            </a:extLst>
          </p:cNvPr>
          <p:cNvSpPr>
            <a:spLocks noChangeArrowheads="1"/>
          </p:cNvSpPr>
          <p:nvPr/>
        </p:nvSpPr>
        <p:spPr bwMode="auto">
          <a:xfrm>
            <a:off x="1524000" y="197874"/>
            <a:ext cx="6468873" cy="103105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647496"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S.D.M Jainmatt</a:t>
            </a:r>
            <a:r>
              <a:rPr kumimoji="0" lang="en-US" altLang="en-US" sz="1100" b="0" i="0" u="none" strike="noStrike" cap="none" normalizeH="0" baseline="0" dirty="0">
                <a:ln>
                  <a:noFill/>
                </a:ln>
                <a:solidFill>
                  <a:srgbClr val="000000"/>
                </a:solidFill>
                <a:effectLst/>
                <a:latin typeface="Arial" panose="020B0604020202020204" pitchFamily="34" charset="0"/>
                <a:ea typeface="Calibri" panose="020F0502020204030204" pitchFamily="34" charset="0"/>
              </a:rPr>
              <a:t>22</a:t>
            </a:r>
            <a:r>
              <a:rPr kumimoji="0" lang="en-US" altLang="en-US" sz="1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Trust</a:t>
            </a:r>
            <a:r>
              <a:rPr kumimoji="0" lang="en-US" altLang="en-US" sz="1200" b="0" i="0" u="none" strike="noStrike" cap="none" normalizeH="0" baseline="30000" dirty="0">
                <a:ln>
                  <a:noFill/>
                </a:ln>
                <a:solidFill>
                  <a:srgbClr val="000000"/>
                </a:solidFill>
                <a:effectLst/>
                <a:latin typeface="Arial" panose="020B0604020202020204" pitchFamily="34" charset="0"/>
                <a:ea typeface="Times New Roman" panose="02020603050405020304" pitchFamily="18" charset="0"/>
              </a:rPr>
              <a:t>®</a:t>
            </a:r>
            <a:r>
              <a:rPr kumimoji="0" lang="en-US" altLang="en-US" sz="11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 </a:t>
            </a:r>
            <a:endParaRPr kumimoji="0" lang="en-US" altLang="en-US" sz="15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A.G.M B.B.A &amp; B.C.A COLLEGE, VARUR</a:t>
            </a:r>
            <a:r>
              <a:rPr kumimoji="0" lang="en-US" altLang="en-US" sz="11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 </a:t>
            </a:r>
            <a:endParaRPr kumimoji="0" lang="en-US" altLang="en-US" sz="15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Navagraha </a:t>
            </a:r>
            <a:r>
              <a:rPr kumimoji="0" lang="en-US" altLang="en-US" sz="12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rPr>
              <a:t>teerth</a:t>
            </a:r>
            <a:r>
              <a:rPr kumimoji="0" lang="en-US" altLang="en-US" sz="1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 NH-4 Road, VARUR-581 207, Dist. Dharwad, Karnataka </a:t>
            </a:r>
            <a:endParaRPr kumimoji="0" lang="en-US" altLang="en-US" sz="6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Recognized by Govt. of Karnataka, Affiliated to KUD </a:t>
            </a:r>
            <a:endParaRPr kumimoji="0" lang="en-US" altLang="en-US" sz="6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Phone: 0836-2312071, Mob: 9481087999, </a:t>
            </a:r>
            <a:r>
              <a:rPr kumimoji="0" lang="en-US" altLang="en-US" sz="1000" b="0" i="0" u="none" strike="noStrike" cap="none" normalizeH="0" baseline="0" dirty="0" err="1">
                <a:ln>
                  <a:noFill/>
                </a:ln>
                <a:solidFill>
                  <a:srgbClr val="000000"/>
                </a:solidFill>
                <a:effectLst/>
                <a:latin typeface="Arial" panose="020B0604020202020204" pitchFamily="34" charset="0"/>
                <a:ea typeface="Times New Roman" panose="02020603050405020304" pitchFamily="18" charset="0"/>
              </a:rPr>
              <a:t>E-mail:agmbbabca@gmail.com</a:t>
            </a: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 Web: www.agmrcet.ac.in</a:t>
            </a:r>
            <a:r>
              <a:rPr kumimoji="0" lang="en-US" altLang="en-US" sz="11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mc:Choice xmlns="" xmlns:p14="http://schemas.microsoft.com/office/powerpoint/2010/main" Requires="p14">
      <p:transition p14:dur="10" advTm="11014"/>
    </mc:Choice>
    <mc:Fallback>
      <p:transition advTm="11014"/>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808F51B5-021D-BF24-1854-65E785758288}"/>
              </a:ext>
            </a:extLst>
          </p:cNvPr>
          <p:cNvSpPr>
            <a:spLocks noGrp="1"/>
          </p:cNvSpPr>
          <p:nvPr>
            <p:ph type="dt" sz="half" idx="10"/>
          </p:nvPr>
        </p:nvSpPr>
        <p:spPr/>
        <p:txBody>
          <a:bodyPr/>
          <a:lstStyle/>
          <a:p>
            <a:r>
              <a:rPr lang="en-US" dirty="0" smtClean="0"/>
              <a:t>1 June </a:t>
            </a:r>
            <a:r>
              <a:rPr lang="en-US" dirty="0"/>
              <a:t>2026</a:t>
            </a:r>
          </a:p>
        </p:txBody>
      </p:sp>
      <p:sp>
        <p:nvSpPr>
          <p:cNvPr id="5" name="Slide Number Placeholder 4">
            <a:extLst>
              <a:ext uri="{FF2B5EF4-FFF2-40B4-BE49-F238E27FC236}">
                <a16:creationId xmlns="" xmlns:a16="http://schemas.microsoft.com/office/drawing/2014/main" id="{74C8C974-0143-CD4B-F28E-BFA18B138F3B}"/>
              </a:ext>
            </a:extLst>
          </p:cNvPr>
          <p:cNvSpPr>
            <a:spLocks noGrp="1"/>
          </p:cNvSpPr>
          <p:nvPr>
            <p:ph type="sldNum" sz="quarter" idx="12"/>
          </p:nvPr>
        </p:nvSpPr>
        <p:spPr>
          <a:solidFill>
            <a:srgbClr val="7030A0"/>
          </a:solidFill>
          <a:scene3d>
            <a:camera prst="orthographicFront"/>
            <a:lightRig rig="threePt" dir="t"/>
          </a:scene3d>
          <a:sp3d>
            <a:bevelT/>
          </a:sp3d>
        </p:spPr>
        <p:txBody>
          <a:bodyPr/>
          <a:lstStyle/>
          <a:p>
            <a:fld id="{846F2FBE-2846-4A92-A491-395E27355705}" type="slidenum">
              <a:rPr lang="en-US" smtClean="0"/>
              <a:pPr/>
              <a:t>2</a:t>
            </a:fld>
            <a:endParaRPr lang="en-US" dirty="0"/>
          </a:p>
        </p:txBody>
      </p:sp>
      <p:sp>
        <p:nvSpPr>
          <p:cNvPr id="3" name="Content Placeholder 2">
            <a:extLst>
              <a:ext uri="{FF2B5EF4-FFF2-40B4-BE49-F238E27FC236}">
                <a16:creationId xmlns="" xmlns:a16="http://schemas.microsoft.com/office/drawing/2014/main" id="{DF3EAA8D-739C-2919-2AE5-D6DEA7F0644F}"/>
              </a:ext>
            </a:extLst>
          </p:cNvPr>
          <p:cNvSpPr>
            <a:spLocks noGrp="1"/>
          </p:cNvSpPr>
          <p:nvPr>
            <p:ph sz="quarter" idx="1"/>
          </p:nvPr>
        </p:nvSpPr>
        <p:spPr>
          <a:xfrm>
            <a:off x="152400" y="0"/>
            <a:ext cx="8839200" cy="6096000"/>
          </a:xfrm>
        </p:spPr>
        <p:txBody>
          <a:bodyPr>
            <a:normAutofit fontScale="92500"/>
          </a:bodyPr>
          <a:lstStyle/>
          <a:p>
            <a:pPr marL="0" indent="0" algn="ctr">
              <a:buNone/>
            </a:pPr>
            <a:endParaRPr lang="en-US" sz="2800" b="1" dirty="0" smtClean="0">
              <a:latin typeface="Times New Roman" panose="02020603050405020304" pitchFamily="18" charset="0"/>
              <a:cs typeface="Times New Roman" panose="02020603050405020304" pitchFamily="18" charset="0"/>
            </a:endParaRPr>
          </a:p>
          <a:p>
            <a:pPr marL="0" indent="0" algn="ctr">
              <a:buNone/>
            </a:pPr>
            <a:r>
              <a:rPr lang="en-US" sz="3500" b="1" u="sng" dirty="0" smtClean="0">
                <a:latin typeface="Times New Roman" pitchFamily="18" charset="0"/>
                <a:cs typeface="Times New Roman" pitchFamily="18" charset="0"/>
              </a:rPr>
              <a:t>Introduction</a:t>
            </a:r>
            <a:endParaRPr lang="en-US" sz="3500" b="1" i="1" u="sng" dirty="0">
              <a:latin typeface="Times New Roman" pitchFamily="18" charset="0"/>
              <a:cs typeface="Times New Roman" pitchFamily="18" charset="0"/>
            </a:endParaRPr>
          </a:p>
          <a:p>
            <a:pPr marL="0" indent="0" algn="just">
              <a:buNone/>
            </a:pPr>
            <a:r>
              <a:rPr lang="en-US" sz="2400" dirty="0" smtClean="0">
                <a:latin typeface="Times New Roman" pitchFamily="18" charset="0"/>
                <a:cs typeface="Times New Roman" pitchFamily="18" charset="0"/>
              </a:rPr>
              <a:t>Brain tumor detection using Machine Learning is a modern and important application in the field of medical image processing and artificial intelligence. A brain tumor is a serious and life-threatening condition caused by the abnormal growth of cells in the brain. Early and accurate detection of brain tumors plays a major role in providing proper treatment and increasing the chances of patient recovery.</a:t>
            </a:r>
          </a:p>
          <a:p>
            <a:pPr marL="0" indent="0" algn="just">
              <a:buNone/>
            </a:pPr>
            <a:endParaRPr lang="en-US" sz="2400" dirty="0" smtClean="0">
              <a:latin typeface="Times New Roman" pitchFamily="18" charset="0"/>
              <a:cs typeface="Times New Roman" pitchFamily="18" charset="0"/>
            </a:endParaRPr>
          </a:p>
          <a:p>
            <a:pPr marL="0" indent="0" algn="just">
              <a:buNone/>
            </a:pPr>
            <a:r>
              <a:rPr lang="en-US" sz="2400" smtClean="0">
                <a:latin typeface="Times New Roman" pitchFamily="18" charset="0"/>
                <a:cs typeface="Times New Roman" pitchFamily="18" charset="0"/>
              </a:rPr>
              <a:t>The </a:t>
            </a:r>
            <a:r>
              <a:rPr lang="en-US" sz="2400" dirty="0" smtClean="0">
                <a:latin typeface="Times New Roman" pitchFamily="18" charset="0"/>
                <a:cs typeface="Times New Roman" pitchFamily="18" charset="0"/>
              </a:rPr>
              <a:t>project uses machine learning algorithms and image processing methods to analyze brain images and identify abnormal tumor regions with high accuracy. By training the model on large datasets of brain MRI images, the system can classify tumors as </a:t>
            </a:r>
            <a:r>
              <a:rPr lang="en-US" sz="2400" dirty="0" smtClean="0">
                <a:latin typeface="Times New Roman" pitchFamily="18" charset="0"/>
                <a:cs typeface="Times New Roman" pitchFamily="18" charset="0"/>
              </a:rPr>
              <a:t>tumor</a:t>
            </a: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or </a:t>
            </a:r>
            <a:r>
              <a:rPr lang="en-US" sz="2400" dirty="0" smtClean="0">
                <a:latin typeface="Times New Roman" pitchFamily="18" charset="0"/>
                <a:cs typeface="Times New Roman" pitchFamily="18" charset="0"/>
              </a:rPr>
              <a:t>non-tumor</a:t>
            </a: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and assist doctors in making faster and more reliable decisions. This approach reduces manual effort, improves diagnostic efficiency, and supports early treatment planning, making machine learning an important tool in modern medical diagnosis.</a:t>
            </a:r>
          </a:p>
          <a:p>
            <a:pPr marL="0" indent="0">
              <a:buNone/>
            </a:pPr>
            <a:endParaRPr lang="en-US" sz="2400" dirty="0" smtClean="0">
              <a:latin typeface="Times New Roman" pitchFamily="18" charset="0"/>
              <a:cs typeface="Times New Roman" pitchFamily="18" charset="0"/>
            </a:endParaRPr>
          </a:p>
          <a:p>
            <a:pPr marL="0" indent="0">
              <a:buNone/>
            </a:pPr>
            <a:endParaRPr lang="en-US" sz="2400" dirty="0" smtClean="0">
              <a:latin typeface="Times New Roman" pitchFamily="18" charset="0"/>
              <a:cs typeface="Times New Roman" pitchFamily="18" charset="0"/>
            </a:endParaRPr>
          </a:p>
          <a:p>
            <a:pPr marL="0" indent="0">
              <a:buNone/>
            </a:pPr>
            <a:endParaRPr lang="en-US" sz="2400" dirty="0" smtClean="0">
              <a:latin typeface="Times New Roman" pitchFamily="18" charset="0"/>
              <a:cs typeface="Times New Roman" pitchFamily="18" charset="0"/>
            </a:endParaRPr>
          </a:p>
          <a:p>
            <a:pPr marL="0" indent="0">
              <a:buNone/>
            </a:pPr>
            <a:endParaRPr lang="en-US" sz="2400" dirty="0" smtClean="0">
              <a:latin typeface="Times New Roman" pitchFamily="18" charset="0"/>
              <a:cs typeface="Times New Roman" pitchFamily="18" charset="0"/>
            </a:endParaRPr>
          </a:p>
          <a:p>
            <a:pPr marL="0" indent="0">
              <a:buNone/>
            </a:pPr>
            <a:endParaRPr lang="en-US" sz="1400" b="1" u="sng" dirty="0" smtClean="0"/>
          </a:p>
        </p:txBody>
      </p:sp>
    </p:spTree>
    <p:extLst>
      <p:ext uri="{BB962C8B-B14F-4D97-AF65-F5344CB8AC3E}">
        <p14:creationId xmlns="" xmlns:p14="http://schemas.microsoft.com/office/powerpoint/2010/main" val="3604905776"/>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u="sng" dirty="0" smtClean="0">
                <a:solidFill>
                  <a:schemeClr val="tx1">
                    <a:lumMod val="95000"/>
                    <a:lumOff val="5000"/>
                  </a:schemeClr>
                </a:solidFill>
                <a:latin typeface="Times New Roman" pitchFamily="18" charset="0"/>
                <a:cs typeface="Times New Roman" pitchFamily="18" charset="0"/>
              </a:rPr>
              <a:t>Problem Statement</a:t>
            </a:r>
            <a:endParaRPr lang="en-US" sz="3200" b="1" u="sng" dirty="0">
              <a:solidFill>
                <a:schemeClr val="tx1">
                  <a:lumMod val="95000"/>
                  <a:lumOff val="5000"/>
                </a:schemeClr>
              </a:solidFill>
              <a:latin typeface="Times New Roman" pitchFamily="18" charset="0"/>
              <a:cs typeface="Times New Roman" pitchFamily="18" charset="0"/>
            </a:endParaRPr>
          </a:p>
        </p:txBody>
      </p:sp>
      <p:sp>
        <p:nvSpPr>
          <p:cNvPr id="3" name="Date Placeholder 2"/>
          <p:cNvSpPr>
            <a:spLocks noGrp="1"/>
          </p:cNvSpPr>
          <p:nvPr>
            <p:ph type="dt" sz="half" idx="10"/>
          </p:nvPr>
        </p:nvSpPr>
        <p:spPr/>
        <p:txBody>
          <a:bodyPr/>
          <a:lstStyle/>
          <a:p>
            <a:r>
              <a:rPr lang="en-US" dirty="0" smtClean="0"/>
              <a:t> 1 June 2026</a:t>
            </a:r>
            <a:endParaRPr lang="en-US" dirty="0"/>
          </a:p>
        </p:txBody>
      </p:sp>
      <p:sp>
        <p:nvSpPr>
          <p:cNvPr id="4" name="Slide Number Placeholder 3"/>
          <p:cNvSpPr>
            <a:spLocks noGrp="1"/>
          </p:cNvSpPr>
          <p:nvPr>
            <p:ph type="sldNum" sz="quarter" idx="12"/>
          </p:nvPr>
        </p:nvSpPr>
        <p:spPr>
          <a:solidFill>
            <a:srgbClr val="7030A0"/>
          </a:solidFill>
          <a:scene3d>
            <a:camera prst="orthographicFront"/>
            <a:lightRig rig="threePt" dir="t"/>
          </a:scene3d>
          <a:sp3d>
            <a:bevelT/>
          </a:sp3d>
        </p:spPr>
        <p:txBody>
          <a:bodyPr/>
          <a:lstStyle/>
          <a:p>
            <a:fld id="{846F2FBE-2846-4A92-A491-395E27355705}" type="slidenum">
              <a:rPr lang="en-US" smtClean="0"/>
              <a:pPr/>
              <a:t>3</a:t>
            </a:fld>
            <a:endParaRPr lang="en-US"/>
          </a:p>
        </p:txBody>
      </p:sp>
      <p:sp>
        <p:nvSpPr>
          <p:cNvPr id="5" name="Content Placeholder 4"/>
          <p:cNvSpPr>
            <a:spLocks noGrp="1"/>
          </p:cNvSpPr>
          <p:nvPr>
            <p:ph sz="quarter" idx="1"/>
          </p:nvPr>
        </p:nvSpPr>
        <p:spPr>
          <a:solidFill>
            <a:schemeClr val="bg1"/>
          </a:solidFill>
        </p:spPr>
        <p:txBody>
          <a:bodyPr>
            <a:normAutofit/>
          </a:bodyPr>
          <a:lstStyle/>
          <a:p>
            <a:pPr algn="just">
              <a:buNone/>
            </a:pPr>
            <a:r>
              <a:rPr lang="en-US" sz="2200" b="1" dirty="0" smtClean="0">
                <a:latin typeface="Times New Roman" pitchFamily="18" charset="0"/>
                <a:cs typeface="Times New Roman" pitchFamily="18" charset="0"/>
              </a:rPr>
              <a:t>Brain Tumor Detection Using Machine Learning </a:t>
            </a:r>
            <a:r>
              <a:rPr lang="en-US" sz="2200" dirty="0" smtClean="0">
                <a:latin typeface="Times New Roman" pitchFamily="18" charset="0"/>
                <a:cs typeface="Times New Roman" pitchFamily="18" charset="0"/>
              </a:rPr>
              <a:t>is an advanced healthcare application that helps in the early diagnosis of brain tumors through medical imaging techniques such as MRI scans. The project uses machine learning algorithms and image processing methods to analyze brain images and identify abnormal tumor regions with high accuracy. By training the model on large datasets of brain MRI images, the system can classify tumors as benign or malignant and assist doctors in making faster and more reliable decisions. This approach reduces manual effort, improves diagnostic efficiency, and supports early treatment planning, making machine learning an important tool in modern medical diagnosis.</a:t>
            </a:r>
          </a:p>
          <a:p>
            <a:pPr>
              <a:buNone/>
            </a:pP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u="sng" dirty="0" smtClean="0">
                <a:solidFill>
                  <a:schemeClr val="tx1">
                    <a:lumMod val="95000"/>
                    <a:lumOff val="5000"/>
                  </a:schemeClr>
                </a:solidFill>
                <a:latin typeface="Times New Roman" pitchFamily="18" charset="0"/>
                <a:cs typeface="Times New Roman" pitchFamily="18" charset="0"/>
              </a:rPr>
              <a:t>Objectives</a:t>
            </a:r>
            <a:endParaRPr lang="en-US" sz="3200" b="1" u="sng" dirty="0">
              <a:solidFill>
                <a:schemeClr val="tx1">
                  <a:lumMod val="95000"/>
                  <a:lumOff val="5000"/>
                </a:schemeClr>
              </a:solidFill>
              <a:latin typeface="Times New Roman" pitchFamily="18" charset="0"/>
              <a:cs typeface="Times New Roman" pitchFamily="18" charset="0"/>
            </a:endParaRPr>
          </a:p>
        </p:txBody>
      </p:sp>
      <p:sp>
        <p:nvSpPr>
          <p:cNvPr id="3" name="Date Placeholder 2"/>
          <p:cNvSpPr>
            <a:spLocks noGrp="1"/>
          </p:cNvSpPr>
          <p:nvPr>
            <p:ph type="dt" sz="half" idx="10"/>
          </p:nvPr>
        </p:nvSpPr>
        <p:spPr/>
        <p:txBody>
          <a:bodyPr/>
          <a:lstStyle/>
          <a:p>
            <a:r>
              <a:rPr lang="en-US" dirty="0" smtClean="0"/>
              <a:t> 1 June 2026</a:t>
            </a:r>
            <a:endParaRPr lang="en-US" dirty="0"/>
          </a:p>
        </p:txBody>
      </p:sp>
      <p:sp>
        <p:nvSpPr>
          <p:cNvPr id="4" name="Slide Number Placeholder 3"/>
          <p:cNvSpPr>
            <a:spLocks noGrp="1"/>
          </p:cNvSpPr>
          <p:nvPr>
            <p:ph type="sldNum" sz="quarter" idx="12"/>
          </p:nvPr>
        </p:nvSpPr>
        <p:spPr>
          <a:solidFill>
            <a:srgbClr val="7030A0"/>
          </a:solidFill>
          <a:scene3d>
            <a:camera prst="orthographicFront"/>
            <a:lightRig rig="threePt" dir="t"/>
          </a:scene3d>
          <a:sp3d>
            <a:bevelT/>
          </a:sp3d>
        </p:spPr>
        <p:txBody>
          <a:bodyPr/>
          <a:lstStyle/>
          <a:p>
            <a:fld id="{846F2FBE-2846-4A92-A491-395E27355705}" type="slidenum">
              <a:rPr lang="en-US" smtClean="0"/>
              <a:pPr/>
              <a:t>4</a:t>
            </a:fld>
            <a:endParaRPr lang="en-US" dirty="0"/>
          </a:p>
        </p:txBody>
      </p:sp>
      <p:sp>
        <p:nvSpPr>
          <p:cNvPr id="5" name="Content Placeholder 4"/>
          <p:cNvSpPr>
            <a:spLocks noGrp="1"/>
          </p:cNvSpPr>
          <p:nvPr>
            <p:ph sz="quarter" idx="1"/>
          </p:nvPr>
        </p:nvSpPr>
        <p:spPr/>
        <p:txBody>
          <a:bodyPr/>
          <a:lstStyle/>
          <a:p>
            <a:pPr lvl="0">
              <a:buClr>
                <a:srgbClr val="7030A0"/>
              </a:buClr>
              <a:buFont typeface="Wingdings" pitchFamily="2" charset="2"/>
              <a:buChar char="Ø"/>
            </a:pPr>
            <a:r>
              <a:rPr lang="en-US" sz="2400" dirty="0" smtClean="0">
                <a:latin typeface="Times New Roman" pitchFamily="18" charset="0"/>
                <a:cs typeface="Times New Roman" pitchFamily="18" charset="0"/>
              </a:rPr>
              <a:t>To analyze MRI brain images and identify tumor regions accurately.</a:t>
            </a:r>
          </a:p>
          <a:p>
            <a:pPr lvl="0">
              <a:buClr>
                <a:srgbClr val="7030A0"/>
              </a:buClr>
              <a:buFont typeface="Wingdings" pitchFamily="2" charset="2"/>
              <a:buChar char="Ø"/>
            </a:pPr>
            <a:r>
              <a:rPr lang="en-US" sz="2400" dirty="0" smtClean="0">
                <a:latin typeface="Times New Roman" pitchFamily="18" charset="0"/>
                <a:cs typeface="Times New Roman" pitchFamily="18" charset="0"/>
              </a:rPr>
              <a:t>To reduce manual errors in medical diagnosis.</a:t>
            </a:r>
          </a:p>
          <a:p>
            <a:pPr lvl="0">
              <a:buClr>
                <a:srgbClr val="7030A0"/>
              </a:buClr>
              <a:buFont typeface="Wingdings" pitchFamily="2" charset="2"/>
              <a:buChar char="Ø"/>
            </a:pPr>
            <a:r>
              <a:rPr lang="en-US" sz="2400" dirty="0" smtClean="0">
                <a:latin typeface="Times New Roman" pitchFamily="18" charset="0"/>
                <a:cs typeface="Times New Roman" pitchFamily="18" charset="0"/>
              </a:rPr>
              <a:t>To improve the speed and efficiency of tumor detection.</a:t>
            </a:r>
          </a:p>
          <a:p>
            <a:pPr lvl="0">
              <a:buClr>
                <a:srgbClr val="7030A0"/>
              </a:buClr>
              <a:buFont typeface="Wingdings" pitchFamily="2" charset="2"/>
              <a:buChar char="Ø"/>
            </a:pPr>
            <a:r>
              <a:rPr lang="en-US" sz="2400" dirty="0" smtClean="0">
                <a:latin typeface="Times New Roman" pitchFamily="18" charset="0"/>
                <a:cs typeface="Times New Roman" pitchFamily="18" charset="0"/>
              </a:rPr>
              <a:t>To classify tumors based on image patterns and features.</a:t>
            </a:r>
          </a:p>
          <a:p>
            <a:pPr lvl="0">
              <a:buClr>
                <a:srgbClr val="7030A0"/>
              </a:buClr>
              <a:buFont typeface="Wingdings" pitchFamily="2" charset="2"/>
              <a:buChar char="Ø"/>
            </a:pPr>
            <a:r>
              <a:rPr lang="en-US" sz="2400" dirty="0" smtClean="0">
                <a:latin typeface="Times New Roman" pitchFamily="18" charset="0"/>
                <a:cs typeface="Times New Roman" pitchFamily="18" charset="0"/>
              </a:rPr>
              <a:t>To assist doctors in early diagnosis and treatment planning.</a:t>
            </a:r>
          </a:p>
          <a:p>
            <a:pPr lvl="0">
              <a:buClr>
                <a:srgbClr val="7030A0"/>
              </a:buClr>
              <a:buFont typeface="Wingdings" pitchFamily="2" charset="2"/>
              <a:buChar char="Ø"/>
            </a:pPr>
            <a:r>
              <a:rPr lang="en-US" sz="2400" dirty="0" smtClean="0">
                <a:latin typeface="Times New Roman" pitchFamily="18" charset="0"/>
                <a:cs typeface="Times New Roman" pitchFamily="18" charset="0"/>
              </a:rPr>
              <a:t>To achieve higher accuracy using trained machine learning models.</a:t>
            </a:r>
          </a:p>
          <a:p>
            <a:pPr lvl="0">
              <a:buClr>
                <a:srgbClr val="7030A0"/>
              </a:buClr>
              <a:buFont typeface="Wingdings" pitchFamily="2" charset="2"/>
              <a:buChar char="Ø"/>
            </a:pPr>
            <a:r>
              <a:rPr lang="en-US" sz="2400" dirty="0" smtClean="0">
                <a:latin typeface="Times New Roman" pitchFamily="18" charset="0"/>
                <a:cs typeface="Times New Roman" pitchFamily="18" charset="0"/>
              </a:rPr>
              <a:t>To provide a cost-effective and reliable diagnostic solution.</a:t>
            </a:r>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u="sng" dirty="0" smtClean="0">
                <a:solidFill>
                  <a:schemeClr val="tx1">
                    <a:lumMod val="95000"/>
                    <a:lumOff val="5000"/>
                  </a:schemeClr>
                </a:solidFill>
                <a:latin typeface="Times New Roman" pitchFamily="18" charset="0"/>
                <a:cs typeface="Times New Roman" pitchFamily="18" charset="0"/>
              </a:rPr>
              <a:t>Scope of the project</a:t>
            </a:r>
            <a:endParaRPr lang="en-US" sz="3200" b="1" u="sng" dirty="0">
              <a:solidFill>
                <a:schemeClr val="tx1">
                  <a:lumMod val="95000"/>
                  <a:lumOff val="5000"/>
                </a:schemeClr>
              </a:solidFill>
              <a:latin typeface="Times New Roman" pitchFamily="18" charset="0"/>
              <a:cs typeface="Times New Roman" pitchFamily="18" charset="0"/>
            </a:endParaRPr>
          </a:p>
        </p:txBody>
      </p:sp>
      <p:sp>
        <p:nvSpPr>
          <p:cNvPr id="3" name="Date Placeholder 2"/>
          <p:cNvSpPr>
            <a:spLocks noGrp="1"/>
          </p:cNvSpPr>
          <p:nvPr>
            <p:ph type="dt" sz="half" idx="10"/>
          </p:nvPr>
        </p:nvSpPr>
        <p:spPr/>
        <p:txBody>
          <a:bodyPr/>
          <a:lstStyle/>
          <a:p>
            <a:r>
              <a:rPr lang="en-US" dirty="0" smtClean="0"/>
              <a:t> 1 June 2026</a:t>
            </a:r>
            <a:endParaRPr lang="en-US" dirty="0"/>
          </a:p>
        </p:txBody>
      </p:sp>
      <p:sp>
        <p:nvSpPr>
          <p:cNvPr id="4" name="Slide Number Placeholder 3"/>
          <p:cNvSpPr>
            <a:spLocks noGrp="1"/>
          </p:cNvSpPr>
          <p:nvPr>
            <p:ph type="sldNum" sz="quarter" idx="12"/>
          </p:nvPr>
        </p:nvSpPr>
        <p:spPr>
          <a:solidFill>
            <a:srgbClr val="7030A0"/>
          </a:solidFill>
          <a:scene3d>
            <a:camera prst="orthographicFront"/>
            <a:lightRig rig="threePt" dir="t"/>
          </a:scene3d>
          <a:sp3d>
            <a:bevelT/>
          </a:sp3d>
        </p:spPr>
        <p:txBody>
          <a:bodyPr/>
          <a:lstStyle/>
          <a:p>
            <a:fld id="{846F2FBE-2846-4A92-A491-395E27355705}" type="slidenum">
              <a:rPr lang="en-US" smtClean="0"/>
              <a:pPr/>
              <a:t>5</a:t>
            </a:fld>
            <a:endParaRPr lang="en-US"/>
          </a:p>
        </p:txBody>
      </p:sp>
      <p:sp>
        <p:nvSpPr>
          <p:cNvPr id="5" name="Content Placeholder 4"/>
          <p:cNvSpPr>
            <a:spLocks noGrp="1"/>
          </p:cNvSpPr>
          <p:nvPr>
            <p:ph sz="quarter" idx="1"/>
          </p:nvPr>
        </p:nvSpPr>
        <p:spPr/>
        <p:txBody>
          <a:bodyPr>
            <a:normAutofit fontScale="92500" lnSpcReduction="20000"/>
          </a:bodyPr>
          <a:lstStyle/>
          <a:p>
            <a:pPr lvl="0">
              <a:buClr>
                <a:srgbClr val="7030A0"/>
              </a:buClr>
              <a:buFont typeface="Wingdings" pitchFamily="2" charset="2"/>
              <a:buChar char="Ø"/>
            </a:pPr>
            <a:r>
              <a:rPr lang="en-US" dirty="0" smtClean="0">
                <a:latin typeface="Times New Roman" pitchFamily="18" charset="0"/>
                <a:cs typeface="Times New Roman" pitchFamily="18" charset="0"/>
              </a:rPr>
              <a:t>The system can be improved to achieve higher accuracy using advanced deep learning models.</a:t>
            </a:r>
          </a:p>
          <a:p>
            <a:pPr lvl="0">
              <a:buClr>
                <a:srgbClr val="7030A0"/>
              </a:buClr>
              <a:buFont typeface="Wingdings" pitchFamily="2" charset="2"/>
              <a:buChar char="Ø"/>
            </a:pPr>
            <a:r>
              <a:rPr lang="en-US" dirty="0" smtClean="0">
                <a:latin typeface="Times New Roman" pitchFamily="18" charset="0"/>
                <a:cs typeface="Times New Roman" pitchFamily="18" charset="0"/>
              </a:rPr>
              <a:t>It can be extended to detect multiple types of brain diseases, not just tumors.</a:t>
            </a:r>
          </a:p>
          <a:p>
            <a:pPr lvl="0">
              <a:buClr>
                <a:srgbClr val="7030A0"/>
              </a:buClr>
              <a:buFont typeface="Wingdings" pitchFamily="2" charset="2"/>
              <a:buChar char="Ø"/>
            </a:pPr>
            <a:r>
              <a:rPr lang="en-US" dirty="0" smtClean="0">
                <a:latin typeface="Times New Roman" pitchFamily="18" charset="0"/>
                <a:cs typeface="Times New Roman" pitchFamily="18" charset="0"/>
              </a:rPr>
              <a:t>A mobile application can be developed for easy access by users.</a:t>
            </a:r>
          </a:p>
          <a:p>
            <a:pPr lvl="0">
              <a:buClr>
                <a:srgbClr val="7030A0"/>
              </a:buClr>
              <a:buFont typeface="Wingdings" pitchFamily="2" charset="2"/>
              <a:buChar char="Ø"/>
            </a:pPr>
            <a:r>
              <a:rPr lang="en-US" dirty="0" smtClean="0">
                <a:latin typeface="Times New Roman" pitchFamily="18" charset="0"/>
                <a:cs typeface="Times New Roman" pitchFamily="18" charset="0"/>
              </a:rPr>
              <a:t>Real-time MRI scan analysis can be integrated in hospitals.</a:t>
            </a:r>
          </a:p>
          <a:p>
            <a:pPr lvl="0">
              <a:buClr>
                <a:srgbClr val="7030A0"/>
              </a:buClr>
              <a:buFont typeface="Wingdings" pitchFamily="2" charset="2"/>
              <a:buChar char="Ø"/>
            </a:pPr>
            <a:r>
              <a:rPr lang="en-US" dirty="0" smtClean="0">
                <a:latin typeface="Times New Roman" pitchFamily="18" charset="0"/>
                <a:cs typeface="Times New Roman" pitchFamily="18" charset="0"/>
              </a:rPr>
              <a:t>Cloud-based deployment can be implemented for better scalability and storage.</a:t>
            </a:r>
          </a:p>
          <a:p>
            <a:pPr lvl="0">
              <a:buClr>
                <a:srgbClr val="7030A0"/>
              </a:buClr>
              <a:buFont typeface="Wingdings" pitchFamily="2" charset="2"/>
              <a:buChar char="Ø"/>
            </a:pPr>
            <a:r>
              <a:rPr lang="en-US" dirty="0" smtClean="0">
                <a:latin typeface="Times New Roman" pitchFamily="18" charset="0"/>
                <a:cs typeface="Times New Roman" pitchFamily="18" charset="0"/>
              </a:rPr>
              <a:t>Integration with hospital management systems for automated reporting.</a:t>
            </a:r>
          </a:p>
          <a:p>
            <a:pPr lvl="0">
              <a:buClr>
                <a:srgbClr val="7030A0"/>
              </a:buClr>
              <a:buFont typeface="Wingdings" pitchFamily="2" charset="2"/>
              <a:buChar char="Ø"/>
            </a:pPr>
            <a:r>
              <a:rPr lang="en-US" dirty="0" smtClean="0">
                <a:latin typeface="Times New Roman" pitchFamily="18" charset="0"/>
                <a:cs typeface="Times New Roman" pitchFamily="18" charset="0"/>
              </a:rPr>
              <a:t>Use of AI-based diagnosis support to assist doctors more effectively.</a:t>
            </a:r>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u="sng" dirty="0" smtClean="0">
                <a:solidFill>
                  <a:schemeClr val="tx1">
                    <a:lumMod val="95000"/>
                    <a:lumOff val="5000"/>
                  </a:schemeClr>
                </a:solidFill>
                <a:latin typeface="Times New Roman" pitchFamily="18" charset="0"/>
                <a:cs typeface="Times New Roman" pitchFamily="18" charset="0"/>
              </a:rPr>
              <a:t>Technologies</a:t>
            </a:r>
            <a:endParaRPr lang="en-US" sz="3200" b="1" u="sng" dirty="0">
              <a:solidFill>
                <a:schemeClr val="tx1">
                  <a:lumMod val="95000"/>
                  <a:lumOff val="5000"/>
                </a:schemeClr>
              </a:solidFill>
              <a:latin typeface="Times New Roman" pitchFamily="18" charset="0"/>
              <a:cs typeface="Times New Roman" pitchFamily="18" charset="0"/>
            </a:endParaRPr>
          </a:p>
        </p:txBody>
      </p:sp>
      <p:sp>
        <p:nvSpPr>
          <p:cNvPr id="3" name="Date Placeholder 2"/>
          <p:cNvSpPr>
            <a:spLocks noGrp="1"/>
          </p:cNvSpPr>
          <p:nvPr>
            <p:ph type="dt" sz="half" idx="10"/>
          </p:nvPr>
        </p:nvSpPr>
        <p:spPr/>
        <p:txBody>
          <a:bodyPr/>
          <a:lstStyle/>
          <a:p>
            <a:r>
              <a:rPr lang="en-US" dirty="0" smtClean="0"/>
              <a:t> 1 June 2026</a:t>
            </a:r>
            <a:endParaRPr lang="en-US" dirty="0"/>
          </a:p>
        </p:txBody>
      </p:sp>
      <p:sp>
        <p:nvSpPr>
          <p:cNvPr id="4" name="Slide Number Placeholder 3"/>
          <p:cNvSpPr>
            <a:spLocks noGrp="1"/>
          </p:cNvSpPr>
          <p:nvPr>
            <p:ph type="sldNum" sz="quarter" idx="12"/>
          </p:nvPr>
        </p:nvSpPr>
        <p:spPr>
          <a:solidFill>
            <a:srgbClr val="7030A0"/>
          </a:solidFill>
          <a:scene3d>
            <a:camera prst="orthographicFront"/>
            <a:lightRig rig="threePt" dir="t"/>
          </a:scene3d>
          <a:sp3d>
            <a:bevelT/>
          </a:sp3d>
        </p:spPr>
        <p:txBody>
          <a:bodyPr/>
          <a:lstStyle/>
          <a:p>
            <a:fld id="{846F2FBE-2846-4A92-A491-395E27355705}" type="slidenum">
              <a:rPr lang="en-US" smtClean="0"/>
              <a:pPr/>
              <a:t>6</a:t>
            </a:fld>
            <a:endParaRPr lang="en-US" dirty="0"/>
          </a:p>
        </p:txBody>
      </p:sp>
      <p:sp>
        <p:nvSpPr>
          <p:cNvPr id="5" name="Content Placeholder 4"/>
          <p:cNvSpPr>
            <a:spLocks noGrp="1"/>
          </p:cNvSpPr>
          <p:nvPr>
            <p:ph sz="quarter" idx="1"/>
          </p:nvPr>
        </p:nvSpPr>
        <p:spPr/>
        <p:txBody>
          <a:bodyPr>
            <a:normAutofit/>
          </a:bodyPr>
          <a:lstStyle/>
          <a:p>
            <a:pPr>
              <a:buClr>
                <a:srgbClr val="7030A0"/>
              </a:buClr>
              <a:buFont typeface="Wingdings" pitchFamily="2" charset="2"/>
              <a:buChar char="Ø"/>
            </a:pPr>
            <a:r>
              <a:rPr lang="en-US" sz="2400" b="1" dirty="0" smtClean="0">
                <a:latin typeface="Times New Roman" pitchFamily="18" charset="0"/>
                <a:cs typeface="Times New Roman" pitchFamily="18" charset="0"/>
              </a:rPr>
              <a:t>Python</a:t>
            </a:r>
            <a:r>
              <a:rPr lang="en-US" sz="2400" dirty="0" smtClean="0">
                <a:latin typeface="Times New Roman" pitchFamily="18" charset="0"/>
                <a:cs typeface="Times New Roman" pitchFamily="18" charset="0"/>
              </a:rPr>
              <a:t> is the main programming language used for developing the machine learning model due to its simplicity and powerful libraries.</a:t>
            </a:r>
          </a:p>
          <a:p>
            <a:pPr>
              <a:buClr>
                <a:srgbClr val="7030A0"/>
              </a:buClr>
              <a:buFont typeface="Wingdings" pitchFamily="2" charset="2"/>
              <a:buChar char="Ø"/>
            </a:pPr>
            <a:r>
              <a:rPr lang="en-US" sz="2400"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OpenCV</a:t>
            </a:r>
            <a:r>
              <a:rPr lang="en-US" sz="2400" dirty="0" smtClean="0">
                <a:latin typeface="Times New Roman" pitchFamily="18" charset="0"/>
                <a:cs typeface="Times New Roman" pitchFamily="18" charset="0"/>
              </a:rPr>
              <a:t> Image processing is performed  , which helps in reading, resizing, and enhancing MRI images for better analysis. </a:t>
            </a:r>
          </a:p>
          <a:p>
            <a:pPr>
              <a:buClr>
                <a:srgbClr val="7030A0"/>
              </a:buClr>
              <a:buFont typeface="Wingdings" pitchFamily="2" charset="2"/>
              <a:buChar char="Ø"/>
            </a:pPr>
            <a:r>
              <a:rPr lang="en-US" sz="2400"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NumPy</a:t>
            </a:r>
            <a:r>
              <a:rPr lang="en-US" sz="2400" dirty="0" smtClean="0">
                <a:latin typeface="Times New Roman" pitchFamily="18" charset="0"/>
                <a:cs typeface="Times New Roman" pitchFamily="18" charset="0"/>
              </a:rPr>
              <a:t> and </a:t>
            </a:r>
            <a:r>
              <a:rPr lang="en-US" sz="2400" b="1" dirty="0" smtClean="0">
                <a:latin typeface="Times New Roman" pitchFamily="18" charset="0"/>
                <a:cs typeface="Times New Roman" pitchFamily="18" charset="0"/>
              </a:rPr>
              <a:t>Pandas</a:t>
            </a:r>
            <a:r>
              <a:rPr lang="en-US" sz="2400" dirty="0" smtClean="0">
                <a:latin typeface="Times New Roman" pitchFamily="18" charset="0"/>
                <a:cs typeface="Times New Roman" pitchFamily="18" charset="0"/>
              </a:rPr>
              <a:t> are used for numerical computations and data handling.</a:t>
            </a:r>
          </a:p>
          <a:p>
            <a:pPr>
              <a:buClr>
                <a:srgbClr val="7030A0"/>
              </a:buClr>
              <a:buFont typeface="Wingdings" pitchFamily="2" charset="2"/>
              <a:buChar char="Ø"/>
            </a:pPr>
            <a:r>
              <a:rPr lang="en-US" sz="2400"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Scikit</a:t>
            </a:r>
            <a:r>
              <a:rPr lang="en-US" sz="2400" b="1" dirty="0" smtClean="0">
                <a:latin typeface="Times New Roman" pitchFamily="18" charset="0"/>
                <a:cs typeface="Times New Roman" pitchFamily="18" charset="0"/>
              </a:rPr>
              <a:t>-learn</a:t>
            </a:r>
            <a:r>
              <a:rPr lang="en-US" sz="2400" dirty="0" smtClean="0">
                <a:latin typeface="Times New Roman" pitchFamily="18" charset="0"/>
                <a:cs typeface="Times New Roman" pitchFamily="18" charset="0"/>
              </a:rPr>
              <a:t> and </a:t>
            </a:r>
            <a:r>
              <a:rPr lang="en-US" sz="2400" b="1" dirty="0" err="1" smtClean="0">
                <a:latin typeface="Times New Roman" pitchFamily="18" charset="0"/>
                <a:cs typeface="Times New Roman" pitchFamily="18" charset="0"/>
              </a:rPr>
              <a:t>TensorFlow</a:t>
            </a:r>
            <a:r>
              <a:rPr lang="en-US" sz="2400" b="1" dirty="0" smtClean="0">
                <a:latin typeface="Times New Roman" pitchFamily="18" charset="0"/>
                <a:cs typeface="Times New Roman" pitchFamily="18" charset="0"/>
              </a:rPr>
              <a:t>/</a:t>
            </a:r>
            <a:r>
              <a:rPr lang="en-US" sz="2400" b="1" dirty="0" err="1" smtClean="0">
                <a:latin typeface="Times New Roman" pitchFamily="18" charset="0"/>
                <a:cs typeface="Times New Roman" pitchFamily="18" charset="0"/>
              </a:rPr>
              <a:t>Keras</a:t>
            </a:r>
            <a:r>
              <a:rPr lang="en-US" sz="2400" dirty="0" smtClean="0">
                <a:latin typeface="Times New Roman" pitchFamily="18" charset="0"/>
                <a:cs typeface="Times New Roman" pitchFamily="18" charset="0"/>
              </a:rPr>
              <a:t> are used to train and test the dataset for accurate prediction of brain tumors. building the machine learning model.</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dirty="0" smtClean="0"/>
              <a:t> 1 June 2026</a:t>
            </a:r>
            <a:endParaRPr lang="en-US" dirty="0"/>
          </a:p>
        </p:txBody>
      </p:sp>
      <p:sp>
        <p:nvSpPr>
          <p:cNvPr id="4" name="Slide Number Placeholder 3"/>
          <p:cNvSpPr>
            <a:spLocks noGrp="1"/>
          </p:cNvSpPr>
          <p:nvPr>
            <p:ph type="sldNum" sz="quarter" idx="12"/>
          </p:nvPr>
        </p:nvSpPr>
        <p:spPr>
          <a:solidFill>
            <a:srgbClr val="7030A0"/>
          </a:solidFill>
          <a:scene3d>
            <a:camera prst="orthographicFront"/>
            <a:lightRig rig="threePt" dir="t"/>
          </a:scene3d>
          <a:sp3d>
            <a:bevelT/>
          </a:sp3d>
        </p:spPr>
        <p:txBody>
          <a:bodyPr/>
          <a:lstStyle/>
          <a:p>
            <a:fld id="{846F2FBE-2846-4A92-A491-395E27355705}" type="slidenum">
              <a:rPr lang="en-US" smtClean="0"/>
              <a:pPr/>
              <a:t>7</a:t>
            </a:fld>
            <a:endParaRPr lang="en-US"/>
          </a:p>
        </p:txBody>
      </p:sp>
      <p:sp>
        <p:nvSpPr>
          <p:cNvPr id="5" name="Content Placeholder 4"/>
          <p:cNvSpPr>
            <a:spLocks noGrp="1"/>
          </p:cNvSpPr>
          <p:nvPr>
            <p:ph sz="quarter" idx="1"/>
          </p:nvPr>
        </p:nvSpPr>
        <p:spPr>
          <a:xfrm>
            <a:off x="914400" y="762000"/>
            <a:ext cx="7772400" cy="5257800"/>
          </a:xfrm>
        </p:spPr>
        <p:txBody>
          <a:bodyPr>
            <a:normAutofit/>
          </a:bodyPr>
          <a:lstStyle/>
          <a:p>
            <a:pPr>
              <a:buClr>
                <a:srgbClr val="7030A0"/>
              </a:buClr>
              <a:buFont typeface="Wingdings" pitchFamily="2" charset="2"/>
              <a:buChar char="Ø"/>
            </a:pPr>
            <a:r>
              <a:rPr lang="en-US" sz="2400" b="1" dirty="0" smtClean="0">
                <a:latin typeface="Times New Roman" pitchFamily="18" charset="0"/>
                <a:cs typeface="Times New Roman" pitchFamily="18" charset="0"/>
              </a:rPr>
              <a:t>HTML</a:t>
            </a:r>
            <a:r>
              <a:rPr lang="en-US" sz="2400" dirty="0" smtClean="0">
                <a:latin typeface="Times New Roman" pitchFamily="18" charset="0"/>
                <a:cs typeface="Times New Roman" pitchFamily="18" charset="0"/>
              </a:rPr>
              <a:t> plays a key role in building the front-end interface of the project, making it easy for users to interact with the system.</a:t>
            </a:r>
          </a:p>
          <a:p>
            <a:pPr>
              <a:buClr>
                <a:srgbClr val="7030A0"/>
              </a:buClr>
              <a:buFont typeface="Wingdings" pitchFamily="2" charset="2"/>
              <a:buChar char="Ø"/>
            </a:pPr>
            <a:r>
              <a:rPr lang="en-US" sz="2400" b="1" dirty="0" smtClean="0">
                <a:latin typeface="Times New Roman" pitchFamily="18" charset="0"/>
                <a:cs typeface="Times New Roman" pitchFamily="18" charset="0"/>
              </a:rPr>
              <a:t>Flask server </a:t>
            </a:r>
            <a:r>
              <a:rPr lang="en-US" sz="2400" dirty="0" smtClean="0">
                <a:latin typeface="Times New Roman" pitchFamily="18" charset="0"/>
                <a:cs typeface="Times New Roman" pitchFamily="18" charset="0"/>
              </a:rPr>
              <a:t>acts as bridge between the trained machine learning model and end user</a:t>
            </a:r>
            <a:r>
              <a:rPr lang="en-US" sz="2400" dirty="0" smtClean="0">
                <a:latin typeface="Times New Roman" pitchFamily="18" charset="0"/>
                <a:cs typeface="Times New Roman" pitchFamily="18" charset="0"/>
              </a:rPr>
              <a:t>.</a:t>
            </a:r>
          </a:p>
          <a:p>
            <a:pPr>
              <a:buClr>
                <a:srgbClr val="7030A0"/>
              </a:buClr>
              <a:buNone/>
            </a:pPr>
            <a:endParaRPr lang="en-US" sz="2400" dirty="0" smtClean="0">
              <a:latin typeface="Times New Roman" pitchFamily="18" charset="0"/>
              <a:cs typeface="Times New Roman" pitchFamily="18" charset="0"/>
            </a:endParaRPr>
          </a:p>
          <a:p>
            <a:pPr>
              <a:buClr>
                <a:srgbClr val="7030A0"/>
              </a:buClr>
              <a:buFont typeface="Wingdings" pitchFamily="2" charset="2"/>
              <a:buChar char="Ø"/>
            </a:pPr>
            <a:endParaRPr lang="en-US" sz="2400" dirty="0">
              <a:latin typeface="Times New Roman" pitchFamily="18" charset="0"/>
              <a:cs typeface="Times New Roman" pitchFamily="18" charset="0"/>
            </a:endParaRPr>
          </a:p>
        </p:txBody>
      </p:sp>
      <p:pic>
        <p:nvPicPr>
          <p:cNvPr id="6" name="Picture 5"/>
          <p:cNvPicPr/>
          <p:nvPr/>
        </p:nvPicPr>
        <p:blipFill>
          <a:blip r:embed="rId2"/>
          <a:stretch>
            <a:fillRect/>
          </a:stretch>
        </p:blipFill>
        <p:spPr>
          <a:xfrm>
            <a:off x="1706245" y="3200400"/>
            <a:ext cx="5731510" cy="3200399"/>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u="sng" dirty="0" smtClean="0">
                <a:solidFill>
                  <a:schemeClr val="tx1">
                    <a:lumMod val="95000"/>
                    <a:lumOff val="5000"/>
                  </a:schemeClr>
                </a:solidFill>
                <a:latin typeface="Times New Roman" pitchFamily="18" charset="0"/>
                <a:cs typeface="Times New Roman" pitchFamily="18" charset="0"/>
              </a:rPr>
              <a:t>System Requirements</a:t>
            </a:r>
            <a:endParaRPr lang="en-US" sz="3200" b="1" u="sng" dirty="0">
              <a:solidFill>
                <a:schemeClr val="tx1">
                  <a:lumMod val="95000"/>
                  <a:lumOff val="5000"/>
                </a:schemeClr>
              </a:solidFill>
              <a:latin typeface="Times New Roman" pitchFamily="18" charset="0"/>
              <a:cs typeface="Times New Roman" pitchFamily="18" charset="0"/>
            </a:endParaRPr>
          </a:p>
        </p:txBody>
      </p:sp>
      <p:sp>
        <p:nvSpPr>
          <p:cNvPr id="3" name="Date Placeholder 2"/>
          <p:cNvSpPr>
            <a:spLocks noGrp="1"/>
          </p:cNvSpPr>
          <p:nvPr>
            <p:ph type="dt" sz="half" idx="10"/>
          </p:nvPr>
        </p:nvSpPr>
        <p:spPr/>
        <p:txBody>
          <a:bodyPr/>
          <a:lstStyle/>
          <a:p>
            <a:r>
              <a:rPr lang="en-US" dirty="0" smtClean="0"/>
              <a:t> 1 June 2026</a:t>
            </a:r>
            <a:endParaRPr lang="en-US" dirty="0"/>
          </a:p>
        </p:txBody>
      </p:sp>
      <p:sp>
        <p:nvSpPr>
          <p:cNvPr id="4" name="Slide Number Placeholder 3"/>
          <p:cNvSpPr>
            <a:spLocks noGrp="1"/>
          </p:cNvSpPr>
          <p:nvPr>
            <p:ph type="sldNum" sz="quarter" idx="12"/>
          </p:nvPr>
        </p:nvSpPr>
        <p:spPr>
          <a:solidFill>
            <a:srgbClr val="7030A0"/>
          </a:solidFill>
          <a:scene3d>
            <a:camera prst="orthographicFront"/>
            <a:lightRig rig="threePt" dir="t"/>
          </a:scene3d>
          <a:sp3d>
            <a:bevelT/>
          </a:sp3d>
        </p:spPr>
        <p:txBody>
          <a:bodyPr/>
          <a:lstStyle/>
          <a:p>
            <a:fld id="{846F2FBE-2846-4A92-A491-395E27355705}" type="slidenum">
              <a:rPr lang="en-US" smtClean="0"/>
              <a:pPr/>
              <a:t>8</a:t>
            </a:fld>
            <a:endParaRPr lang="en-US" dirty="0"/>
          </a:p>
        </p:txBody>
      </p:sp>
      <p:sp>
        <p:nvSpPr>
          <p:cNvPr id="5" name="Content Placeholder 4"/>
          <p:cNvSpPr>
            <a:spLocks noGrp="1"/>
          </p:cNvSpPr>
          <p:nvPr>
            <p:ph sz="quarter" idx="1"/>
          </p:nvPr>
        </p:nvSpPr>
        <p:spPr/>
        <p:txBody>
          <a:bodyPr>
            <a:normAutofit fontScale="47500" lnSpcReduction="20000"/>
          </a:bodyPr>
          <a:lstStyle/>
          <a:p>
            <a:pPr>
              <a:buClr>
                <a:srgbClr val="7030A0"/>
              </a:buClr>
              <a:buFont typeface="Wingdings" pitchFamily="2" charset="2"/>
              <a:buChar char="Ø"/>
            </a:pPr>
            <a:r>
              <a:rPr lang="en-IN" sz="5100" b="1" i="1" u="sng" dirty="0" smtClean="0">
                <a:latin typeface="Times New Roman" pitchFamily="18" charset="0"/>
                <a:cs typeface="Times New Roman" pitchFamily="18" charset="0"/>
              </a:rPr>
              <a:t>Functional Requirements</a:t>
            </a:r>
            <a:endParaRPr lang="en-US" sz="5100" dirty="0" smtClean="0">
              <a:latin typeface="Times New Roman" pitchFamily="18" charset="0"/>
              <a:cs typeface="Times New Roman" pitchFamily="18" charset="0"/>
            </a:endParaRPr>
          </a:p>
          <a:p>
            <a:pPr>
              <a:buClr>
                <a:srgbClr val="7030A0"/>
              </a:buClr>
              <a:buNone/>
            </a:pPr>
            <a:r>
              <a:rPr lang="en-IN" sz="3300" dirty="0" smtClean="0">
                <a:latin typeface="Times New Roman" pitchFamily="18" charset="0"/>
                <a:cs typeface="Times New Roman" pitchFamily="18" charset="0"/>
              </a:rPr>
              <a:t>              These defines the specific behaviours and services the system must provide.</a:t>
            </a:r>
            <a:endParaRPr lang="en-US" sz="3300" dirty="0" smtClean="0">
              <a:latin typeface="Times New Roman" pitchFamily="18" charset="0"/>
              <a:cs typeface="Times New Roman" pitchFamily="18" charset="0"/>
            </a:endParaRPr>
          </a:p>
          <a:p>
            <a:pPr>
              <a:buClr>
                <a:srgbClr val="7030A0"/>
              </a:buClr>
              <a:buFont typeface="Wingdings" pitchFamily="2" charset="2"/>
              <a:buChar char="Ø"/>
            </a:pPr>
            <a:r>
              <a:rPr lang="en-IN" sz="3300" b="1" dirty="0" smtClean="0">
                <a:latin typeface="Times New Roman" pitchFamily="18" charset="0"/>
                <a:cs typeface="Times New Roman" pitchFamily="18" charset="0"/>
              </a:rPr>
              <a:t>FR1: User Authentication</a:t>
            </a:r>
            <a:endParaRPr lang="en-US" sz="3300" dirty="0" smtClean="0">
              <a:latin typeface="Times New Roman" pitchFamily="18" charset="0"/>
              <a:cs typeface="Times New Roman" pitchFamily="18" charset="0"/>
            </a:endParaRPr>
          </a:p>
          <a:p>
            <a:pPr>
              <a:buClr>
                <a:srgbClr val="7030A0"/>
              </a:buClr>
              <a:buNone/>
            </a:pPr>
            <a:r>
              <a:rPr lang="en-IN" sz="3300" dirty="0" smtClean="0">
                <a:latin typeface="Times New Roman" pitchFamily="18" charset="0"/>
                <a:cs typeface="Times New Roman" pitchFamily="18" charset="0"/>
              </a:rPr>
              <a:t>         The system must allow doctors/technicians to log in using a secure username and password stored in </a:t>
            </a:r>
            <a:r>
              <a:rPr lang="en-IN" sz="3300" dirty="0" err="1" smtClean="0">
                <a:latin typeface="Times New Roman" pitchFamily="18" charset="0"/>
                <a:cs typeface="Times New Roman" pitchFamily="18" charset="0"/>
              </a:rPr>
              <a:t>MySQL</a:t>
            </a:r>
            <a:r>
              <a:rPr lang="en-IN" sz="3300" dirty="0" smtClean="0">
                <a:latin typeface="Times New Roman" pitchFamily="18" charset="0"/>
                <a:cs typeface="Times New Roman" pitchFamily="18" charset="0"/>
              </a:rPr>
              <a:t> databases.</a:t>
            </a:r>
            <a:endParaRPr lang="en-US" sz="3300" dirty="0" smtClean="0">
              <a:latin typeface="Times New Roman" pitchFamily="18" charset="0"/>
              <a:cs typeface="Times New Roman" pitchFamily="18" charset="0"/>
            </a:endParaRPr>
          </a:p>
          <a:p>
            <a:pPr>
              <a:buClr>
                <a:srgbClr val="7030A0"/>
              </a:buClr>
              <a:buFont typeface="Wingdings" pitchFamily="2" charset="2"/>
              <a:buChar char="Ø"/>
            </a:pPr>
            <a:r>
              <a:rPr lang="en-IN" sz="3300" b="1" dirty="0" smtClean="0">
                <a:latin typeface="Times New Roman" pitchFamily="18" charset="0"/>
                <a:cs typeface="Times New Roman" pitchFamily="18" charset="0"/>
              </a:rPr>
              <a:t>FR2: MRI Image Upload</a:t>
            </a:r>
            <a:endParaRPr lang="en-US" sz="3300" dirty="0" smtClean="0">
              <a:latin typeface="Times New Roman" pitchFamily="18" charset="0"/>
              <a:cs typeface="Times New Roman" pitchFamily="18" charset="0"/>
            </a:endParaRPr>
          </a:p>
          <a:p>
            <a:pPr>
              <a:buClr>
                <a:srgbClr val="7030A0"/>
              </a:buClr>
              <a:buNone/>
            </a:pPr>
            <a:r>
              <a:rPr lang="en-IN" sz="3300" dirty="0" smtClean="0">
                <a:latin typeface="Times New Roman" pitchFamily="18" charset="0"/>
                <a:cs typeface="Times New Roman" pitchFamily="18" charset="0"/>
              </a:rPr>
              <a:t>         The user must be able to upload MRI scans in formats like .jpg, .</a:t>
            </a:r>
            <a:r>
              <a:rPr lang="en-IN" sz="3300" dirty="0" err="1" smtClean="0">
                <a:latin typeface="Times New Roman" pitchFamily="18" charset="0"/>
                <a:cs typeface="Times New Roman" pitchFamily="18" charset="0"/>
              </a:rPr>
              <a:t>png</a:t>
            </a:r>
            <a:r>
              <a:rPr lang="en-IN" sz="3300" dirty="0" smtClean="0">
                <a:latin typeface="Times New Roman" pitchFamily="18" charset="0"/>
                <a:cs typeface="Times New Roman" pitchFamily="18" charset="0"/>
              </a:rPr>
              <a:t>, or .</a:t>
            </a:r>
            <a:r>
              <a:rPr lang="en-IN" sz="3300" dirty="0" err="1" smtClean="0">
                <a:latin typeface="Times New Roman" pitchFamily="18" charset="0"/>
                <a:cs typeface="Times New Roman" pitchFamily="18" charset="0"/>
              </a:rPr>
              <a:t>dcm</a:t>
            </a:r>
            <a:r>
              <a:rPr lang="en-IN" sz="3300" dirty="0" smtClean="0">
                <a:latin typeface="Times New Roman" pitchFamily="18" charset="0"/>
                <a:cs typeface="Times New Roman" pitchFamily="18" charset="0"/>
              </a:rPr>
              <a:t> .</a:t>
            </a:r>
            <a:endParaRPr lang="en-US" sz="3300" dirty="0" smtClean="0">
              <a:latin typeface="Times New Roman" pitchFamily="18" charset="0"/>
              <a:cs typeface="Times New Roman" pitchFamily="18" charset="0"/>
            </a:endParaRPr>
          </a:p>
          <a:p>
            <a:pPr>
              <a:buClr>
                <a:srgbClr val="7030A0"/>
              </a:buClr>
              <a:buFont typeface="Wingdings" pitchFamily="2" charset="2"/>
              <a:buChar char="Ø"/>
            </a:pPr>
            <a:r>
              <a:rPr lang="en-IN" sz="3300" b="1" dirty="0" smtClean="0">
                <a:latin typeface="Times New Roman" pitchFamily="18" charset="0"/>
                <a:cs typeface="Times New Roman" pitchFamily="18" charset="0"/>
              </a:rPr>
              <a:t>FR3: Image </a:t>
            </a:r>
            <a:r>
              <a:rPr lang="en-IN" sz="3300" b="1" dirty="0" err="1" smtClean="0">
                <a:latin typeface="Times New Roman" pitchFamily="18" charset="0"/>
                <a:cs typeface="Times New Roman" pitchFamily="18" charset="0"/>
              </a:rPr>
              <a:t>Preprocessing</a:t>
            </a:r>
            <a:endParaRPr lang="en-US" sz="3300" dirty="0" smtClean="0">
              <a:latin typeface="Times New Roman" pitchFamily="18" charset="0"/>
              <a:cs typeface="Times New Roman" pitchFamily="18" charset="0"/>
            </a:endParaRPr>
          </a:p>
          <a:p>
            <a:pPr>
              <a:buClr>
                <a:srgbClr val="7030A0"/>
              </a:buClr>
              <a:buNone/>
            </a:pPr>
            <a:r>
              <a:rPr lang="en-IN" sz="3300" dirty="0" smtClean="0">
                <a:latin typeface="Times New Roman" pitchFamily="18" charset="0"/>
                <a:cs typeface="Times New Roman" pitchFamily="18" charset="0"/>
              </a:rPr>
              <a:t>      The system must automatically use </a:t>
            </a:r>
            <a:r>
              <a:rPr lang="en-IN" sz="3300" dirty="0" err="1" smtClean="0">
                <a:latin typeface="Times New Roman" pitchFamily="18" charset="0"/>
                <a:cs typeface="Times New Roman" pitchFamily="18" charset="0"/>
              </a:rPr>
              <a:t>OpenCV</a:t>
            </a:r>
            <a:r>
              <a:rPr lang="en-IN" sz="3300" dirty="0" smtClean="0">
                <a:latin typeface="Times New Roman" pitchFamily="18" charset="0"/>
                <a:cs typeface="Times New Roman" pitchFamily="18" charset="0"/>
              </a:rPr>
              <a:t> to resize images to a standard dimensions(</a:t>
            </a:r>
            <a:r>
              <a:rPr lang="en-IN" sz="3300" dirty="0" err="1" smtClean="0">
                <a:latin typeface="Times New Roman" pitchFamily="18" charset="0"/>
                <a:cs typeface="Times New Roman" pitchFamily="18" charset="0"/>
              </a:rPr>
              <a:t>e.g</a:t>
            </a:r>
            <a:r>
              <a:rPr lang="en-IN" sz="3300" dirty="0" smtClean="0">
                <a:latin typeface="Times New Roman" pitchFamily="18" charset="0"/>
                <a:cs typeface="Times New Roman" pitchFamily="18" charset="0"/>
              </a:rPr>
              <a:t>, 224X224) and normalize pixel values using </a:t>
            </a:r>
            <a:r>
              <a:rPr lang="en-IN" sz="3300" dirty="0" err="1" smtClean="0">
                <a:latin typeface="Times New Roman" pitchFamily="18" charset="0"/>
                <a:cs typeface="Times New Roman" pitchFamily="18" charset="0"/>
              </a:rPr>
              <a:t>NumPy</a:t>
            </a:r>
            <a:r>
              <a:rPr lang="en-IN" sz="3300" dirty="0" smtClean="0">
                <a:latin typeface="Times New Roman" pitchFamily="18" charset="0"/>
                <a:cs typeface="Times New Roman" pitchFamily="18" charset="0"/>
              </a:rPr>
              <a:t>.</a:t>
            </a:r>
            <a:endParaRPr lang="en-US" sz="3300" dirty="0" smtClean="0">
              <a:latin typeface="Times New Roman" pitchFamily="18" charset="0"/>
              <a:cs typeface="Times New Roman" pitchFamily="18" charset="0"/>
            </a:endParaRPr>
          </a:p>
          <a:p>
            <a:pPr>
              <a:buClr>
                <a:srgbClr val="7030A0"/>
              </a:buClr>
              <a:buFont typeface="Wingdings" pitchFamily="2" charset="2"/>
              <a:buChar char="Ø"/>
            </a:pPr>
            <a:r>
              <a:rPr lang="en-IN" sz="3300" b="1" dirty="0" smtClean="0">
                <a:latin typeface="Times New Roman" pitchFamily="18" charset="0"/>
                <a:cs typeface="Times New Roman" pitchFamily="18" charset="0"/>
              </a:rPr>
              <a:t>FR4: </a:t>
            </a:r>
            <a:r>
              <a:rPr lang="en-IN" sz="3300" b="1" dirty="0" err="1" smtClean="0">
                <a:latin typeface="Times New Roman" pitchFamily="18" charset="0"/>
                <a:cs typeface="Times New Roman" pitchFamily="18" charset="0"/>
              </a:rPr>
              <a:t>Tumor</a:t>
            </a:r>
            <a:r>
              <a:rPr lang="en-IN" sz="3300" b="1" dirty="0" smtClean="0">
                <a:latin typeface="Times New Roman" pitchFamily="18" charset="0"/>
                <a:cs typeface="Times New Roman" pitchFamily="18" charset="0"/>
              </a:rPr>
              <a:t> Detection</a:t>
            </a:r>
            <a:endParaRPr lang="en-US" sz="3300" dirty="0" smtClean="0">
              <a:latin typeface="Times New Roman" pitchFamily="18" charset="0"/>
              <a:cs typeface="Times New Roman" pitchFamily="18" charset="0"/>
            </a:endParaRPr>
          </a:p>
          <a:p>
            <a:pPr>
              <a:buClr>
                <a:srgbClr val="7030A0"/>
              </a:buClr>
              <a:buNone/>
            </a:pPr>
            <a:r>
              <a:rPr lang="en-IN" sz="3300" dirty="0" smtClean="0">
                <a:latin typeface="Times New Roman" pitchFamily="18" charset="0"/>
                <a:cs typeface="Times New Roman" pitchFamily="18" charset="0"/>
              </a:rPr>
              <a:t>                 The </a:t>
            </a:r>
            <a:r>
              <a:rPr lang="en-IN" sz="3300" dirty="0" err="1" smtClean="0">
                <a:latin typeface="Times New Roman" pitchFamily="18" charset="0"/>
                <a:cs typeface="Times New Roman" pitchFamily="18" charset="0"/>
              </a:rPr>
              <a:t>TensorFlow</a:t>
            </a:r>
            <a:r>
              <a:rPr lang="en-IN" sz="3300" dirty="0" smtClean="0">
                <a:latin typeface="Times New Roman" pitchFamily="18" charset="0"/>
                <a:cs typeface="Times New Roman" pitchFamily="18" charset="0"/>
              </a:rPr>
              <a:t>/</a:t>
            </a:r>
            <a:r>
              <a:rPr lang="en-IN" sz="3300" dirty="0" err="1" smtClean="0">
                <a:latin typeface="Times New Roman" pitchFamily="18" charset="0"/>
                <a:cs typeface="Times New Roman" pitchFamily="18" charset="0"/>
              </a:rPr>
              <a:t>Keras</a:t>
            </a:r>
            <a:r>
              <a:rPr lang="en-IN" sz="3300" dirty="0" smtClean="0">
                <a:latin typeface="Times New Roman" pitchFamily="18" charset="0"/>
                <a:cs typeface="Times New Roman" pitchFamily="18" charset="0"/>
              </a:rPr>
              <a:t> model must analyze the uploaded image and classify it as “</a:t>
            </a:r>
            <a:r>
              <a:rPr lang="en-IN" sz="3300" dirty="0" err="1" smtClean="0">
                <a:latin typeface="Times New Roman" pitchFamily="18" charset="0"/>
                <a:cs typeface="Times New Roman" pitchFamily="18" charset="0"/>
              </a:rPr>
              <a:t>Tumor</a:t>
            </a:r>
            <a:r>
              <a:rPr lang="en-IN" sz="3300" dirty="0" smtClean="0">
                <a:latin typeface="Times New Roman" pitchFamily="18" charset="0"/>
                <a:cs typeface="Times New Roman" pitchFamily="18" charset="0"/>
              </a:rPr>
              <a:t> Detected” or “No </a:t>
            </a:r>
            <a:r>
              <a:rPr lang="en-IN" sz="3300" dirty="0" err="1" smtClean="0">
                <a:latin typeface="Times New Roman" pitchFamily="18" charset="0"/>
                <a:cs typeface="Times New Roman" pitchFamily="18" charset="0"/>
              </a:rPr>
              <a:t>Tumor</a:t>
            </a:r>
            <a:r>
              <a:rPr lang="en-IN" sz="3300" dirty="0" smtClean="0">
                <a:latin typeface="Times New Roman" pitchFamily="18" charset="0"/>
                <a:cs typeface="Times New Roman" pitchFamily="18" charset="0"/>
              </a:rPr>
              <a:t> Detected”.</a:t>
            </a:r>
            <a:endParaRPr lang="en-US" sz="3300" dirty="0" smtClean="0">
              <a:latin typeface="Times New Roman" pitchFamily="18" charset="0"/>
              <a:cs typeface="Times New Roman" pitchFamily="18" charset="0"/>
            </a:endParaRPr>
          </a:p>
          <a:p>
            <a:pPr>
              <a:buClr>
                <a:srgbClr val="7030A0"/>
              </a:buClr>
              <a:buFont typeface="Wingdings" pitchFamily="2" charset="2"/>
              <a:buChar char="Ø"/>
            </a:pPr>
            <a:r>
              <a:rPr lang="en-IN" sz="3300" b="1" dirty="0" smtClean="0">
                <a:latin typeface="Times New Roman" pitchFamily="18" charset="0"/>
                <a:cs typeface="Times New Roman" pitchFamily="18" charset="0"/>
              </a:rPr>
              <a:t>FR5: Visualization of Results</a:t>
            </a:r>
            <a:endParaRPr lang="en-US" sz="3300" dirty="0" smtClean="0">
              <a:latin typeface="Times New Roman" pitchFamily="18" charset="0"/>
              <a:cs typeface="Times New Roman" pitchFamily="18" charset="0"/>
            </a:endParaRPr>
          </a:p>
          <a:p>
            <a:pPr>
              <a:buClr>
                <a:srgbClr val="7030A0"/>
              </a:buClr>
              <a:buNone/>
            </a:pPr>
            <a:r>
              <a:rPr lang="en-IN" sz="3300" dirty="0" smtClean="0">
                <a:latin typeface="Times New Roman" pitchFamily="18" charset="0"/>
                <a:cs typeface="Times New Roman" pitchFamily="18" charset="0"/>
              </a:rPr>
              <a:t>       The system must display the original image alongside a result page. If a </a:t>
            </a:r>
            <a:r>
              <a:rPr lang="en-IN" sz="3300" dirty="0" err="1" smtClean="0">
                <a:latin typeface="Times New Roman" pitchFamily="18" charset="0"/>
                <a:cs typeface="Times New Roman" pitchFamily="18" charset="0"/>
              </a:rPr>
              <a:t>tumo</a:t>
            </a:r>
            <a:r>
              <a:rPr lang="en-IN" sz="3300" dirty="0" smtClean="0">
                <a:latin typeface="Times New Roman" pitchFamily="18" charset="0"/>
                <a:cs typeface="Times New Roman" pitchFamily="18" charset="0"/>
              </a:rPr>
              <a:t> is found, it should highlight the region using </a:t>
            </a:r>
            <a:r>
              <a:rPr lang="en-IN" sz="3300" dirty="0" err="1" smtClean="0">
                <a:latin typeface="Times New Roman" pitchFamily="18" charset="0"/>
                <a:cs typeface="Times New Roman" pitchFamily="18" charset="0"/>
              </a:rPr>
              <a:t>Matplotlib</a:t>
            </a:r>
            <a:r>
              <a:rPr lang="en-IN" sz="3300" dirty="0" smtClean="0">
                <a:latin typeface="Times New Roman" pitchFamily="18" charset="0"/>
                <a:cs typeface="Times New Roman" pitchFamily="18" charset="0"/>
              </a:rPr>
              <a:t>.</a:t>
            </a:r>
            <a:r>
              <a:rPr lang="en-IN" dirty="0" smtClean="0"/>
              <a:t> </a:t>
            </a:r>
            <a:endParaRPr lang="en-US" dirty="0" smtClean="0"/>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dirty="0" smtClean="0"/>
              <a:t> 1 June 2026</a:t>
            </a:r>
            <a:endParaRPr lang="en-US" dirty="0"/>
          </a:p>
        </p:txBody>
      </p:sp>
      <p:sp>
        <p:nvSpPr>
          <p:cNvPr id="4" name="Slide Number Placeholder 3"/>
          <p:cNvSpPr>
            <a:spLocks noGrp="1"/>
          </p:cNvSpPr>
          <p:nvPr>
            <p:ph type="sldNum" sz="quarter" idx="12"/>
          </p:nvPr>
        </p:nvSpPr>
        <p:spPr>
          <a:solidFill>
            <a:srgbClr val="7030A0"/>
          </a:solidFill>
          <a:scene3d>
            <a:camera prst="orthographicFront"/>
            <a:lightRig rig="threePt" dir="t"/>
          </a:scene3d>
          <a:sp3d>
            <a:bevelT/>
          </a:sp3d>
        </p:spPr>
        <p:txBody>
          <a:bodyPr/>
          <a:lstStyle/>
          <a:p>
            <a:fld id="{846F2FBE-2846-4A92-A491-395E27355705}" type="slidenum">
              <a:rPr lang="en-US" smtClean="0"/>
              <a:pPr/>
              <a:t>9</a:t>
            </a:fld>
            <a:endParaRPr lang="en-US" dirty="0"/>
          </a:p>
        </p:txBody>
      </p:sp>
      <p:sp>
        <p:nvSpPr>
          <p:cNvPr id="5" name="Content Placeholder 4"/>
          <p:cNvSpPr>
            <a:spLocks noGrp="1"/>
          </p:cNvSpPr>
          <p:nvPr>
            <p:ph sz="quarter" idx="1"/>
          </p:nvPr>
        </p:nvSpPr>
        <p:spPr>
          <a:xfrm>
            <a:off x="914400" y="762000"/>
            <a:ext cx="7772400" cy="5257800"/>
          </a:xfrm>
        </p:spPr>
        <p:txBody>
          <a:bodyPr>
            <a:normAutofit/>
          </a:bodyPr>
          <a:lstStyle/>
          <a:p>
            <a:pPr>
              <a:buClr>
                <a:srgbClr val="7030A0"/>
              </a:buClr>
              <a:buFont typeface="Wingdings" pitchFamily="2" charset="2"/>
              <a:buChar char="Ø"/>
            </a:pPr>
            <a:r>
              <a:rPr lang="en-IN" sz="2400" b="1" i="1" u="sng" dirty="0" smtClean="0">
                <a:latin typeface="Times New Roman" pitchFamily="18" charset="0"/>
                <a:cs typeface="Times New Roman" pitchFamily="18" charset="0"/>
              </a:rPr>
              <a:t>Non-Functional Requirements</a:t>
            </a:r>
            <a:endParaRPr lang="en-US" sz="1800" dirty="0" smtClean="0">
              <a:latin typeface="Times New Roman" pitchFamily="18" charset="0"/>
              <a:cs typeface="Times New Roman" pitchFamily="18" charset="0"/>
            </a:endParaRPr>
          </a:p>
          <a:p>
            <a:pPr>
              <a:buClr>
                <a:srgbClr val="7030A0"/>
              </a:buClr>
              <a:buNone/>
            </a:pPr>
            <a:r>
              <a:rPr lang="en-IN" sz="1800" dirty="0" smtClean="0">
                <a:latin typeface="Times New Roman" pitchFamily="18" charset="0"/>
                <a:cs typeface="Times New Roman" pitchFamily="18" charset="0"/>
              </a:rPr>
              <a:t> </a:t>
            </a:r>
            <a:endParaRPr lang="en-US" sz="1800" dirty="0" smtClean="0">
              <a:latin typeface="Times New Roman" pitchFamily="18" charset="0"/>
              <a:cs typeface="Times New Roman" pitchFamily="18" charset="0"/>
            </a:endParaRPr>
          </a:p>
          <a:p>
            <a:pPr>
              <a:buClr>
                <a:srgbClr val="7030A0"/>
              </a:buClr>
              <a:buNone/>
            </a:pPr>
            <a:r>
              <a:rPr lang="en-IN" sz="1800" dirty="0" smtClean="0">
                <a:latin typeface="Times New Roman" pitchFamily="18" charset="0"/>
                <a:cs typeface="Times New Roman" pitchFamily="18" charset="0"/>
              </a:rPr>
              <a:t>These define “how” the system performs rather than “what” it does.</a:t>
            </a:r>
            <a:endParaRPr lang="en-US" sz="1800" dirty="0" smtClean="0">
              <a:latin typeface="Times New Roman" pitchFamily="18" charset="0"/>
              <a:cs typeface="Times New Roman" pitchFamily="18" charset="0"/>
            </a:endParaRPr>
          </a:p>
          <a:p>
            <a:pPr lvl="0">
              <a:buClr>
                <a:srgbClr val="7030A0"/>
              </a:buClr>
              <a:buFont typeface="Wingdings" pitchFamily="2" charset="2"/>
              <a:buChar char="Ø"/>
            </a:pPr>
            <a:r>
              <a:rPr lang="en-IN" sz="1800" b="1" dirty="0" smtClean="0">
                <a:latin typeface="Times New Roman" pitchFamily="18" charset="0"/>
                <a:cs typeface="Times New Roman" pitchFamily="18" charset="0"/>
              </a:rPr>
              <a:t>Performance</a:t>
            </a:r>
            <a:r>
              <a:rPr lang="en-IN" sz="1800" dirty="0" smtClean="0">
                <a:latin typeface="Times New Roman" pitchFamily="18" charset="0"/>
                <a:cs typeface="Times New Roman" pitchFamily="18" charset="0"/>
              </a:rPr>
              <a:t>: The system should provide a detection result within 3-5 seconds of the image being uploaded.</a:t>
            </a:r>
            <a:endParaRPr lang="en-US" sz="1800" dirty="0" smtClean="0">
              <a:latin typeface="Times New Roman" pitchFamily="18" charset="0"/>
              <a:cs typeface="Times New Roman" pitchFamily="18" charset="0"/>
            </a:endParaRPr>
          </a:p>
          <a:p>
            <a:pPr lvl="0">
              <a:buClr>
                <a:srgbClr val="7030A0"/>
              </a:buClr>
              <a:buFont typeface="Wingdings" pitchFamily="2" charset="2"/>
              <a:buChar char="Ø"/>
            </a:pPr>
            <a:r>
              <a:rPr lang="en-IN" sz="1800" b="1" dirty="0" smtClean="0">
                <a:latin typeface="Times New Roman" pitchFamily="18" charset="0"/>
                <a:cs typeface="Times New Roman" pitchFamily="18" charset="0"/>
              </a:rPr>
              <a:t>Accuracy</a:t>
            </a:r>
            <a:r>
              <a:rPr lang="en-IN" sz="1800" dirty="0" smtClean="0">
                <a:latin typeface="Times New Roman" pitchFamily="18" charset="0"/>
                <a:cs typeface="Times New Roman" pitchFamily="18" charset="0"/>
              </a:rPr>
              <a:t>: The ML model must aim for a minimum validation accuracy of 90% on the testing dataset.</a:t>
            </a:r>
            <a:endParaRPr lang="en-US" sz="1800" dirty="0" smtClean="0">
              <a:latin typeface="Times New Roman" pitchFamily="18" charset="0"/>
              <a:cs typeface="Times New Roman" pitchFamily="18" charset="0"/>
            </a:endParaRPr>
          </a:p>
          <a:p>
            <a:pPr lvl="0">
              <a:buClr>
                <a:srgbClr val="7030A0"/>
              </a:buClr>
              <a:buFont typeface="Wingdings" pitchFamily="2" charset="2"/>
              <a:buChar char="Ø"/>
            </a:pPr>
            <a:r>
              <a:rPr lang="en-IN" sz="1800" b="1" dirty="0" smtClean="0">
                <a:latin typeface="Times New Roman" pitchFamily="18" charset="0"/>
                <a:cs typeface="Times New Roman" pitchFamily="18" charset="0"/>
              </a:rPr>
              <a:t>Scalability</a:t>
            </a:r>
            <a:r>
              <a:rPr lang="en-IN" sz="1800" dirty="0" smtClean="0">
                <a:latin typeface="Times New Roman" pitchFamily="18" charset="0"/>
                <a:cs typeface="Times New Roman" pitchFamily="18" charset="0"/>
              </a:rPr>
              <a:t>: The </a:t>
            </a:r>
            <a:r>
              <a:rPr lang="en-IN" sz="1800" dirty="0" err="1" smtClean="0">
                <a:latin typeface="Times New Roman" pitchFamily="18" charset="0"/>
                <a:cs typeface="Times New Roman" pitchFamily="18" charset="0"/>
              </a:rPr>
              <a:t>MySQL</a:t>
            </a:r>
            <a:r>
              <a:rPr lang="en-IN" sz="1800" dirty="0" smtClean="0">
                <a:latin typeface="Times New Roman" pitchFamily="18" charset="0"/>
                <a:cs typeface="Times New Roman" pitchFamily="18" charset="0"/>
              </a:rPr>
              <a:t> database structure should be able to handle at least 1,000 patient records without performance degradation.</a:t>
            </a:r>
            <a:endParaRPr lang="en-US" sz="1800" dirty="0" smtClean="0">
              <a:latin typeface="Times New Roman" pitchFamily="18" charset="0"/>
              <a:cs typeface="Times New Roman" pitchFamily="18" charset="0"/>
            </a:endParaRPr>
          </a:p>
          <a:p>
            <a:pPr lvl="0">
              <a:buClr>
                <a:srgbClr val="7030A0"/>
              </a:buClr>
              <a:buFont typeface="Wingdings" pitchFamily="2" charset="2"/>
              <a:buChar char="Ø"/>
            </a:pPr>
            <a:r>
              <a:rPr lang="en-IN" sz="1800" b="1" dirty="0" smtClean="0">
                <a:latin typeface="Times New Roman" pitchFamily="18" charset="0"/>
                <a:cs typeface="Times New Roman" pitchFamily="18" charset="0"/>
              </a:rPr>
              <a:t>Security</a:t>
            </a:r>
            <a:r>
              <a:rPr lang="en-IN" sz="1800" dirty="0" smtClean="0">
                <a:latin typeface="Times New Roman" pitchFamily="18" charset="0"/>
                <a:cs typeface="Times New Roman" pitchFamily="18" charset="0"/>
              </a:rPr>
              <a:t>: Patient data must be protected; passwords must be stored using hashing.</a:t>
            </a:r>
            <a:endParaRPr lang="en-US" sz="1800" dirty="0" smtClean="0">
              <a:latin typeface="Times New Roman" pitchFamily="18" charset="0"/>
              <a:cs typeface="Times New Roman" pitchFamily="18" charset="0"/>
            </a:endParaRPr>
          </a:p>
          <a:p>
            <a:pPr lvl="0">
              <a:buClr>
                <a:srgbClr val="7030A0"/>
              </a:buClr>
              <a:buFont typeface="Wingdings" pitchFamily="2" charset="2"/>
              <a:buChar char="Ø"/>
            </a:pPr>
            <a:r>
              <a:rPr lang="en-IN" sz="1800" b="1" dirty="0" smtClean="0">
                <a:latin typeface="Times New Roman" pitchFamily="18" charset="0"/>
                <a:cs typeface="Times New Roman" pitchFamily="18" charset="0"/>
              </a:rPr>
              <a:t>Availability</a:t>
            </a:r>
            <a:r>
              <a:rPr lang="en-IN" sz="1800" dirty="0" smtClean="0">
                <a:latin typeface="Times New Roman" pitchFamily="18" charset="0"/>
                <a:cs typeface="Times New Roman" pitchFamily="18" charset="0"/>
              </a:rPr>
              <a:t>: Since it is a web-based tool, it should be accessible 24/7 via a local server or cloud hosting.</a:t>
            </a:r>
            <a:endParaRPr lang="en-US" sz="1800" dirty="0" smtClean="0">
              <a:latin typeface="Times New Roman" pitchFamily="18" charset="0"/>
              <a:cs typeface="Times New Roman" pitchFamily="18" charset="0"/>
            </a:endParaRP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chemeClr val="tx1">
                    <a:lumMod val="95000"/>
                    <a:lumOff val="5000"/>
                  </a:schemeClr>
                </a:solidFill>
                <a:latin typeface="Times New Roman" pitchFamily="18" charset="0"/>
                <a:cs typeface="Times New Roman" pitchFamily="18" charset="0"/>
              </a:rPr>
              <a:t>Methodology</a:t>
            </a:r>
            <a:endParaRPr lang="en-US" dirty="0"/>
          </a:p>
        </p:txBody>
      </p:sp>
      <p:sp>
        <p:nvSpPr>
          <p:cNvPr id="3" name="Date Placeholder 2"/>
          <p:cNvSpPr>
            <a:spLocks noGrp="1"/>
          </p:cNvSpPr>
          <p:nvPr>
            <p:ph type="dt" sz="half" idx="10"/>
          </p:nvPr>
        </p:nvSpPr>
        <p:spPr/>
        <p:txBody>
          <a:bodyPr/>
          <a:lstStyle/>
          <a:p>
            <a:r>
              <a:rPr lang="en-US" dirty="0" smtClean="0"/>
              <a:t> 1 June 2026</a:t>
            </a:r>
            <a:endParaRPr lang="en-US" dirty="0"/>
          </a:p>
        </p:txBody>
      </p:sp>
      <p:sp>
        <p:nvSpPr>
          <p:cNvPr id="4" name="Slide Number Placeholder 3"/>
          <p:cNvSpPr>
            <a:spLocks noGrp="1"/>
          </p:cNvSpPr>
          <p:nvPr>
            <p:ph type="sldNum" sz="quarter" idx="12"/>
          </p:nvPr>
        </p:nvSpPr>
        <p:spPr>
          <a:solidFill>
            <a:srgbClr val="7030A0"/>
          </a:solidFill>
          <a:scene3d>
            <a:camera prst="orthographicFront"/>
            <a:lightRig rig="threePt" dir="t"/>
          </a:scene3d>
          <a:sp3d>
            <a:bevelT/>
          </a:sp3d>
        </p:spPr>
        <p:txBody>
          <a:bodyPr/>
          <a:lstStyle/>
          <a:p>
            <a:fld id="{846F2FBE-2846-4A92-A491-395E27355705}" type="slidenum">
              <a:rPr lang="en-US" smtClean="0"/>
              <a:pPr/>
              <a:t>10</a:t>
            </a:fld>
            <a:endParaRPr lang="en-US" dirty="0"/>
          </a:p>
        </p:txBody>
      </p:sp>
      <p:pic>
        <p:nvPicPr>
          <p:cNvPr id="6" name="Content Placeholder 5" descr="btDFD.png"/>
          <p:cNvPicPr>
            <a:picLocks noGrp="1"/>
          </p:cNvPicPr>
          <p:nvPr>
            <p:ph sz="quarter" idx="1"/>
          </p:nvPr>
        </p:nvPicPr>
        <p:blipFill>
          <a:blip r:embed="rId2" cstate="print"/>
          <a:stretch>
            <a:fillRect/>
          </a:stretch>
        </p:blipFill>
        <p:spPr>
          <a:xfrm>
            <a:off x="1828656" y="1790606"/>
            <a:ext cx="5943887" cy="3886387"/>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1020762"/>
          </a:xfrm>
        </p:spPr>
        <p:txBody>
          <a:bodyPr>
            <a:normAutofit/>
          </a:bodyPr>
          <a:lstStyle/>
          <a:p>
            <a:pPr algn="ctr"/>
            <a:r>
              <a:rPr lang="en-US" sz="3200" b="1" u="sng" dirty="0" smtClean="0">
                <a:solidFill>
                  <a:schemeClr val="tx1">
                    <a:lumMod val="95000"/>
                    <a:lumOff val="5000"/>
                  </a:schemeClr>
                </a:solidFill>
                <a:latin typeface="Times New Roman" pitchFamily="18" charset="0"/>
                <a:cs typeface="Times New Roman" pitchFamily="18" charset="0"/>
              </a:rPr>
              <a:t>Architecture Design</a:t>
            </a:r>
            <a:endParaRPr lang="en-US" sz="3200" b="1" u="sng" dirty="0">
              <a:solidFill>
                <a:schemeClr val="tx1">
                  <a:lumMod val="95000"/>
                  <a:lumOff val="5000"/>
                </a:schemeClr>
              </a:solidFill>
              <a:latin typeface="Times New Roman" pitchFamily="18" charset="0"/>
              <a:cs typeface="Times New Roman" pitchFamily="18" charset="0"/>
            </a:endParaRPr>
          </a:p>
        </p:txBody>
      </p:sp>
      <p:sp>
        <p:nvSpPr>
          <p:cNvPr id="3" name="Date Placeholder 2"/>
          <p:cNvSpPr>
            <a:spLocks noGrp="1"/>
          </p:cNvSpPr>
          <p:nvPr>
            <p:ph type="dt" sz="half" idx="10"/>
          </p:nvPr>
        </p:nvSpPr>
        <p:spPr/>
        <p:txBody>
          <a:bodyPr/>
          <a:lstStyle/>
          <a:p>
            <a:r>
              <a:rPr lang="en-US" dirty="0" smtClean="0"/>
              <a:t> 1 June 2026</a:t>
            </a:r>
            <a:endParaRPr lang="en-US" dirty="0"/>
          </a:p>
        </p:txBody>
      </p:sp>
      <p:sp>
        <p:nvSpPr>
          <p:cNvPr id="4" name="Slide Number Placeholder 3"/>
          <p:cNvSpPr>
            <a:spLocks noGrp="1"/>
          </p:cNvSpPr>
          <p:nvPr>
            <p:ph type="sldNum" sz="quarter" idx="12"/>
          </p:nvPr>
        </p:nvSpPr>
        <p:spPr>
          <a:solidFill>
            <a:srgbClr val="7030A0"/>
          </a:solidFill>
        </p:spPr>
        <p:txBody>
          <a:bodyPr/>
          <a:lstStyle/>
          <a:p>
            <a:fld id="{846F2FBE-2846-4A92-A491-395E27355705}" type="slidenum">
              <a:rPr lang="en-US" smtClean="0"/>
              <a:pPr/>
              <a:t>11</a:t>
            </a:fld>
            <a:endParaRPr lang="en-US" dirty="0"/>
          </a:p>
        </p:txBody>
      </p:sp>
      <p:sp>
        <p:nvSpPr>
          <p:cNvPr id="5" name="Content Placeholder 4"/>
          <p:cNvSpPr>
            <a:spLocks noGrp="1"/>
          </p:cNvSpPr>
          <p:nvPr>
            <p:ph sz="quarter" idx="1"/>
          </p:nvPr>
        </p:nvSpPr>
        <p:spPr/>
        <p:txBody>
          <a:bodyPr/>
          <a:lstStyle/>
          <a:p>
            <a:endParaRPr lang="en-US" dirty="0" smtClean="0"/>
          </a:p>
          <a:p>
            <a:endParaRPr lang="en-US" dirty="0"/>
          </a:p>
        </p:txBody>
      </p:sp>
      <p:pic>
        <p:nvPicPr>
          <p:cNvPr id="6" name="Picture 5" descr="BrainTumor.png"/>
          <p:cNvPicPr/>
          <p:nvPr/>
        </p:nvPicPr>
        <p:blipFill>
          <a:blip r:embed="rId2" cstate="print"/>
          <a:stretch>
            <a:fillRect/>
          </a:stretch>
        </p:blipFill>
        <p:spPr>
          <a:xfrm>
            <a:off x="1600200" y="1752600"/>
            <a:ext cx="5943600" cy="441960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u="sng" dirty="0" smtClean="0">
                <a:solidFill>
                  <a:schemeClr val="tx1">
                    <a:lumMod val="95000"/>
                    <a:lumOff val="5000"/>
                  </a:schemeClr>
                </a:solidFill>
              </a:rPr>
              <a:t>Modules of the project</a:t>
            </a:r>
            <a:endParaRPr lang="en-US" sz="3200" b="1" u="sng" dirty="0">
              <a:solidFill>
                <a:schemeClr val="tx1">
                  <a:lumMod val="95000"/>
                  <a:lumOff val="5000"/>
                </a:schemeClr>
              </a:solidFill>
            </a:endParaRPr>
          </a:p>
        </p:txBody>
      </p:sp>
      <p:sp>
        <p:nvSpPr>
          <p:cNvPr id="3" name="Date Placeholder 2"/>
          <p:cNvSpPr>
            <a:spLocks noGrp="1"/>
          </p:cNvSpPr>
          <p:nvPr>
            <p:ph type="dt" sz="half" idx="10"/>
          </p:nvPr>
        </p:nvSpPr>
        <p:spPr/>
        <p:txBody>
          <a:bodyPr/>
          <a:lstStyle/>
          <a:p>
            <a:r>
              <a:rPr lang="en-US" dirty="0" smtClean="0"/>
              <a:t> 1 June 2026</a:t>
            </a:r>
            <a:endParaRPr lang="en-US" dirty="0"/>
          </a:p>
        </p:txBody>
      </p:sp>
      <p:sp>
        <p:nvSpPr>
          <p:cNvPr id="4" name="Slide Number Placeholder 3"/>
          <p:cNvSpPr>
            <a:spLocks noGrp="1"/>
          </p:cNvSpPr>
          <p:nvPr>
            <p:ph type="sldNum" sz="quarter" idx="12"/>
          </p:nvPr>
        </p:nvSpPr>
        <p:spPr>
          <a:solidFill>
            <a:srgbClr val="7030A0"/>
          </a:solidFill>
          <a:scene3d>
            <a:camera prst="orthographicFront"/>
            <a:lightRig rig="threePt" dir="t"/>
          </a:scene3d>
          <a:sp3d>
            <a:bevelT/>
          </a:sp3d>
        </p:spPr>
        <p:txBody>
          <a:bodyPr/>
          <a:lstStyle/>
          <a:p>
            <a:fld id="{846F2FBE-2846-4A92-A491-395E27355705}" type="slidenum">
              <a:rPr lang="en-US" smtClean="0"/>
              <a:pPr/>
              <a:t>12</a:t>
            </a:fld>
            <a:endParaRPr lang="en-US" dirty="0"/>
          </a:p>
        </p:txBody>
      </p:sp>
      <p:sp>
        <p:nvSpPr>
          <p:cNvPr id="5" name="Content Placeholder 4"/>
          <p:cNvSpPr>
            <a:spLocks noGrp="1"/>
          </p:cNvSpPr>
          <p:nvPr>
            <p:ph sz="quarter" idx="1"/>
          </p:nvPr>
        </p:nvSpPr>
        <p:spPr/>
        <p:txBody>
          <a:bodyPr>
            <a:normAutofit fontScale="92500" lnSpcReduction="10000"/>
          </a:bodyPr>
          <a:lstStyle/>
          <a:p>
            <a:pPr marL="514350" indent="-514350">
              <a:buClr>
                <a:srgbClr val="7030A0"/>
              </a:buClr>
              <a:buFont typeface="+mj-lt"/>
              <a:buAutoNum type="arabicPeriod"/>
            </a:pPr>
            <a:r>
              <a:rPr lang="en-US" b="1" u="sng" dirty="0" smtClean="0">
                <a:latin typeface="Times New Roman" pitchFamily="18" charset="0"/>
                <a:cs typeface="Times New Roman" pitchFamily="18" charset="0"/>
              </a:rPr>
              <a:t>Data Collection</a:t>
            </a:r>
            <a:r>
              <a:rPr lang="en-US" dirty="0" smtClean="0">
                <a:latin typeface="Times New Roman" pitchFamily="18" charset="0"/>
                <a:cs typeface="Times New Roman" pitchFamily="18" charset="0"/>
              </a:rPr>
              <a:t>: This module involves gathering a reliable dataset of MRI scans.</a:t>
            </a:r>
          </a:p>
          <a:p>
            <a:pPr marL="514350" indent="-514350">
              <a:buClr>
                <a:srgbClr val="7030A0"/>
              </a:buClr>
              <a:buFont typeface="+mj-lt"/>
              <a:buAutoNum type="arabicPeriod"/>
            </a:pPr>
            <a:r>
              <a:rPr lang="en-US" b="1" u="sng" dirty="0" smtClean="0">
                <a:latin typeface="Times New Roman" pitchFamily="18" charset="0"/>
                <a:cs typeface="Times New Roman" pitchFamily="18" charset="0"/>
              </a:rPr>
              <a:t>Data Preprocessing</a:t>
            </a:r>
            <a:r>
              <a:rPr lang="en-US" dirty="0" smtClean="0">
                <a:latin typeface="Times New Roman" pitchFamily="18" charset="0"/>
                <a:cs typeface="Times New Roman" pitchFamily="18" charset="0"/>
              </a:rPr>
              <a:t>: This module ensures the model receives clean, uniform data.</a:t>
            </a:r>
          </a:p>
          <a:p>
            <a:pPr marL="514350" indent="-514350">
              <a:buClr>
                <a:srgbClr val="7030A0"/>
              </a:buClr>
              <a:buFont typeface="+mj-lt"/>
              <a:buAutoNum type="arabicPeriod"/>
            </a:pPr>
            <a:r>
              <a:rPr lang="en-US" b="1" u="sng" dirty="0" smtClean="0">
                <a:latin typeface="Times New Roman" pitchFamily="18" charset="0"/>
                <a:cs typeface="Times New Roman" pitchFamily="18" charset="0"/>
              </a:rPr>
              <a:t>Model Training</a:t>
            </a:r>
            <a:r>
              <a:rPr lang="en-US" dirty="0" smtClean="0">
                <a:latin typeface="Times New Roman" pitchFamily="18" charset="0"/>
                <a:cs typeface="Times New Roman" pitchFamily="18" charset="0"/>
              </a:rPr>
              <a:t>: Identify patterns, features, &amp; associations within medical imaging data.</a:t>
            </a:r>
          </a:p>
          <a:p>
            <a:pPr marL="514350" indent="-514350">
              <a:buClr>
                <a:srgbClr val="7030A0"/>
              </a:buClr>
              <a:buFont typeface="+mj-lt"/>
              <a:buAutoNum type="arabicPeriod"/>
            </a:pPr>
            <a:r>
              <a:rPr lang="en-US" b="1" u="sng" dirty="0" smtClean="0">
                <a:latin typeface="Times New Roman" pitchFamily="18" charset="0"/>
                <a:cs typeface="Times New Roman" pitchFamily="18" charset="0"/>
              </a:rPr>
              <a:t>Model </a:t>
            </a:r>
            <a:r>
              <a:rPr lang="en-US" b="1" u="sng" dirty="0" err="1" smtClean="0">
                <a:latin typeface="Times New Roman" pitchFamily="18" charset="0"/>
                <a:cs typeface="Times New Roman" pitchFamily="18" charset="0"/>
              </a:rPr>
              <a:t>Evalution</a:t>
            </a:r>
            <a:r>
              <a:rPr lang="en-US" dirty="0" smtClean="0">
                <a:latin typeface="Times New Roman" pitchFamily="18" charset="0"/>
                <a:cs typeface="Times New Roman" pitchFamily="18" charset="0"/>
              </a:rPr>
              <a:t>: Evaluate model using accuracy, confusion matrix</a:t>
            </a:r>
          </a:p>
          <a:p>
            <a:pPr marL="514350" indent="-514350">
              <a:buClr>
                <a:srgbClr val="7030A0"/>
              </a:buClr>
              <a:buFont typeface="+mj-lt"/>
              <a:buAutoNum type="arabicPeriod"/>
            </a:pPr>
            <a:r>
              <a:rPr lang="en-US" b="1" u="sng" dirty="0" smtClean="0">
                <a:latin typeface="Times New Roman" pitchFamily="18" charset="0"/>
                <a:cs typeface="Times New Roman" pitchFamily="18" charset="0"/>
              </a:rPr>
              <a:t>Detection System</a:t>
            </a:r>
            <a:r>
              <a:rPr lang="en-US" dirty="0" smtClean="0">
                <a:latin typeface="Times New Roman" pitchFamily="18" charset="0"/>
                <a:cs typeface="Times New Roman" pitchFamily="18" charset="0"/>
              </a:rPr>
              <a:t>: Finding whether tumor is present or not.</a:t>
            </a:r>
          </a:p>
          <a:p>
            <a:pPr marL="514350" indent="-514350">
              <a:buClr>
                <a:srgbClr val="7030A0"/>
              </a:buClr>
              <a:buFont typeface="+mj-lt"/>
              <a:buAutoNum type="arabicPeriod"/>
            </a:pPr>
            <a:r>
              <a:rPr lang="en-US" b="1" u="sng" dirty="0" smtClean="0">
                <a:latin typeface="Times New Roman" pitchFamily="18" charset="0"/>
                <a:cs typeface="Times New Roman" pitchFamily="18" charset="0"/>
              </a:rPr>
              <a:t>User Interface</a:t>
            </a:r>
            <a:r>
              <a:rPr lang="en-US" dirty="0" smtClean="0">
                <a:latin typeface="Times New Roman" pitchFamily="18" charset="0"/>
                <a:cs typeface="Times New Roman" pitchFamily="18" charset="0"/>
              </a:rPr>
              <a:t>: Develop a GUI to display results to users.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u="sng" dirty="0" smtClean="0">
                <a:solidFill>
                  <a:schemeClr val="tx1">
                    <a:lumMod val="95000"/>
                    <a:lumOff val="5000"/>
                  </a:schemeClr>
                </a:solidFill>
                <a:latin typeface="Times New Roman" pitchFamily="18" charset="0"/>
                <a:cs typeface="Times New Roman" pitchFamily="18" charset="0"/>
              </a:rPr>
              <a:t>Screenshots</a:t>
            </a:r>
            <a:endParaRPr lang="en-US" sz="3200" b="1" u="sng" dirty="0">
              <a:solidFill>
                <a:schemeClr val="tx1">
                  <a:lumMod val="95000"/>
                  <a:lumOff val="5000"/>
                </a:schemeClr>
              </a:solidFill>
              <a:latin typeface="Times New Roman" pitchFamily="18" charset="0"/>
              <a:cs typeface="Times New Roman" pitchFamily="18" charset="0"/>
            </a:endParaRPr>
          </a:p>
        </p:txBody>
      </p:sp>
      <p:sp>
        <p:nvSpPr>
          <p:cNvPr id="3" name="Date Placeholder 2"/>
          <p:cNvSpPr>
            <a:spLocks noGrp="1"/>
          </p:cNvSpPr>
          <p:nvPr>
            <p:ph type="dt" sz="half" idx="10"/>
          </p:nvPr>
        </p:nvSpPr>
        <p:spPr/>
        <p:txBody>
          <a:bodyPr/>
          <a:lstStyle/>
          <a:p>
            <a:r>
              <a:rPr lang="en-US" dirty="0" smtClean="0"/>
              <a:t> 1 June 2026</a:t>
            </a:r>
            <a:endParaRPr lang="en-US" dirty="0"/>
          </a:p>
        </p:txBody>
      </p:sp>
      <p:sp>
        <p:nvSpPr>
          <p:cNvPr id="4" name="Slide Number Placeholder 3"/>
          <p:cNvSpPr>
            <a:spLocks noGrp="1"/>
          </p:cNvSpPr>
          <p:nvPr>
            <p:ph type="sldNum" sz="quarter" idx="12"/>
          </p:nvPr>
        </p:nvSpPr>
        <p:spPr>
          <a:solidFill>
            <a:srgbClr val="7030A0"/>
          </a:solidFill>
          <a:scene3d>
            <a:camera prst="orthographicFront"/>
            <a:lightRig rig="threePt" dir="t"/>
          </a:scene3d>
          <a:sp3d>
            <a:bevelT/>
          </a:sp3d>
        </p:spPr>
        <p:txBody>
          <a:bodyPr/>
          <a:lstStyle/>
          <a:p>
            <a:fld id="{846F2FBE-2846-4A92-A491-395E27355705}" type="slidenum">
              <a:rPr lang="en-US" smtClean="0"/>
              <a:pPr/>
              <a:t>13</a:t>
            </a:fld>
            <a:endParaRPr lang="en-US"/>
          </a:p>
        </p:txBody>
      </p:sp>
      <p:pic>
        <p:nvPicPr>
          <p:cNvPr id="6" name="Content Placeholder 5" descr="home.png"/>
          <p:cNvPicPr>
            <a:picLocks noGrp="1" noChangeAspect="1"/>
          </p:cNvPicPr>
          <p:nvPr>
            <p:ph sz="quarter" idx="1"/>
          </p:nvPr>
        </p:nvPicPr>
        <p:blipFill>
          <a:blip r:embed="rId2"/>
          <a:stretch>
            <a:fillRect/>
          </a:stretch>
        </p:blipFill>
        <p:spPr>
          <a:xfrm>
            <a:off x="914400" y="1929639"/>
            <a:ext cx="7772400" cy="3608322"/>
          </a:xfr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dirty="0" smtClean="0"/>
              <a:t> 1 June 20</a:t>
            </a:r>
            <a:endParaRPr lang="en-US" dirty="0"/>
          </a:p>
        </p:txBody>
      </p:sp>
      <p:sp>
        <p:nvSpPr>
          <p:cNvPr id="4" name="Slide Number Placeholder 3"/>
          <p:cNvSpPr>
            <a:spLocks noGrp="1"/>
          </p:cNvSpPr>
          <p:nvPr>
            <p:ph type="sldNum" sz="quarter" idx="12"/>
          </p:nvPr>
        </p:nvSpPr>
        <p:spPr>
          <a:solidFill>
            <a:srgbClr val="7030A0"/>
          </a:solidFill>
          <a:scene3d>
            <a:camera prst="orthographicFront"/>
            <a:lightRig rig="threePt" dir="t"/>
          </a:scene3d>
          <a:sp3d>
            <a:bevelT/>
          </a:sp3d>
        </p:spPr>
        <p:txBody>
          <a:bodyPr/>
          <a:lstStyle/>
          <a:p>
            <a:fld id="{846F2FBE-2846-4A92-A491-395E27355705}" type="slidenum">
              <a:rPr lang="en-US" smtClean="0"/>
              <a:pPr/>
              <a:t>14</a:t>
            </a:fld>
            <a:endParaRPr lang="en-US"/>
          </a:p>
        </p:txBody>
      </p:sp>
      <p:pic>
        <p:nvPicPr>
          <p:cNvPr id="6" name="Content Placeholder 5" descr="BrainFind login.png"/>
          <p:cNvPicPr>
            <a:picLocks noGrp="1"/>
          </p:cNvPicPr>
          <p:nvPr>
            <p:ph sz="quarter" idx="1"/>
          </p:nvPr>
        </p:nvPicPr>
        <p:blipFill>
          <a:blip r:embed="rId2" cstate="print"/>
          <a:stretch>
            <a:fillRect/>
          </a:stretch>
        </p:blipFill>
        <p:spPr>
          <a:xfrm>
            <a:off x="1143000" y="1295400"/>
            <a:ext cx="7239000" cy="441960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dirty="0" smtClean="0"/>
              <a:t> 1 June 2026</a:t>
            </a:r>
            <a:endParaRPr lang="en-US" dirty="0"/>
          </a:p>
        </p:txBody>
      </p:sp>
      <p:sp>
        <p:nvSpPr>
          <p:cNvPr id="4" name="Slide Number Placeholder 3"/>
          <p:cNvSpPr>
            <a:spLocks noGrp="1"/>
          </p:cNvSpPr>
          <p:nvPr>
            <p:ph type="sldNum" sz="quarter" idx="12"/>
          </p:nvPr>
        </p:nvSpPr>
        <p:spPr>
          <a:solidFill>
            <a:srgbClr val="7030A0"/>
          </a:solidFill>
          <a:scene3d>
            <a:camera prst="orthographicFront"/>
            <a:lightRig rig="threePt" dir="t"/>
          </a:scene3d>
          <a:sp3d>
            <a:bevelT/>
          </a:sp3d>
        </p:spPr>
        <p:txBody>
          <a:bodyPr/>
          <a:lstStyle/>
          <a:p>
            <a:fld id="{846F2FBE-2846-4A92-A491-395E27355705}" type="slidenum">
              <a:rPr lang="en-US" smtClean="0"/>
              <a:pPr/>
              <a:t>15</a:t>
            </a:fld>
            <a:endParaRPr lang="en-US" dirty="0"/>
          </a:p>
        </p:txBody>
      </p:sp>
      <p:pic>
        <p:nvPicPr>
          <p:cNvPr id="6" name="Content Placeholder 5" descr="BrainFind register.png"/>
          <p:cNvPicPr>
            <a:picLocks noGrp="1"/>
          </p:cNvPicPr>
          <p:nvPr>
            <p:ph sz="quarter" idx="1"/>
          </p:nvPr>
        </p:nvPicPr>
        <p:blipFill>
          <a:blip r:embed="rId2" cstate="print"/>
          <a:stretch>
            <a:fillRect/>
          </a:stretch>
        </p:blipFill>
        <p:spPr>
          <a:xfrm>
            <a:off x="838200" y="1219200"/>
            <a:ext cx="7620000" cy="472440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dirty="0" smtClean="0"/>
              <a:t> 1 June 2026</a:t>
            </a:r>
            <a:endParaRPr lang="en-US" dirty="0"/>
          </a:p>
        </p:txBody>
      </p:sp>
      <p:sp>
        <p:nvSpPr>
          <p:cNvPr id="4" name="Slide Number Placeholder 3"/>
          <p:cNvSpPr>
            <a:spLocks noGrp="1"/>
          </p:cNvSpPr>
          <p:nvPr>
            <p:ph type="sldNum" sz="quarter" idx="12"/>
          </p:nvPr>
        </p:nvSpPr>
        <p:spPr>
          <a:solidFill>
            <a:srgbClr val="7030A0"/>
          </a:solidFill>
          <a:scene3d>
            <a:camera prst="orthographicFront"/>
            <a:lightRig rig="threePt" dir="t"/>
          </a:scene3d>
          <a:sp3d>
            <a:bevelT/>
          </a:sp3d>
        </p:spPr>
        <p:txBody>
          <a:bodyPr/>
          <a:lstStyle/>
          <a:p>
            <a:fld id="{846F2FBE-2846-4A92-A491-395E27355705}" type="slidenum">
              <a:rPr lang="en-US" smtClean="0"/>
              <a:pPr/>
              <a:t>16</a:t>
            </a:fld>
            <a:endParaRPr lang="en-US" dirty="0"/>
          </a:p>
        </p:txBody>
      </p:sp>
      <p:pic>
        <p:nvPicPr>
          <p:cNvPr id="6" name="Content Placeholder 5" descr="Analyze.png"/>
          <p:cNvPicPr>
            <a:picLocks noGrp="1"/>
          </p:cNvPicPr>
          <p:nvPr>
            <p:ph sz="quarter" idx="1"/>
          </p:nvPr>
        </p:nvPicPr>
        <p:blipFill>
          <a:blip r:embed="rId2" cstate="print"/>
          <a:stretch>
            <a:fillRect/>
          </a:stretch>
        </p:blipFill>
        <p:spPr>
          <a:xfrm>
            <a:off x="914400" y="1371600"/>
            <a:ext cx="7620000" cy="441960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dirty="0" smtClean="0"/>
              <a:t> 1 June 2026</a:t>
            </a:r>
            <a:endParaRPr lang="en-US" dirty="0"/>
          </a:p>
        </p:txBody>
      </p:sp>
      <p:sp>
        <p:nvSpPr>
          <p:cNvPr id="4" name="Slide Number Placeholder 3"/>
          <p:cNvSpPr>
            <a:spLocks noGrp="1"/>
          </p:cNvSpPr>
          <p:nvPr>
            <p:ph type="sldNum" sz="quarter" idx="12"/>
          </p:nvPr>
        </p:nvSpPr>
        <p:spPr>
          <a:solidFill>
            <a:srgbClr val="7030A0"/>
          </a:solidFill>
          <a:scene3d>
            <a:camera prst="orthographicFront"/>
            <a:lightRig rig="threePt" dir="t"/>
          </a:scene3d>
          <a:sp3d>
            <a:bevelT/>
          </a:sp3d>
        </p:spPr>
        <p:txBody>
          <a:bodyPr/>
          <a:lstStyle/>
          <a:p>
            <a:fld id="{846F2FBE-2846-4A92-A491-395E27355705}" type="slidenum">
              <a:rPr lang="en-US" smtClean="0"/>
              <a:pPr/>
              <a:t>17</a:t>
            </a:fld>
            <a:endParaRPr lang="en-US" dirty="0"/>
          </a:p>
        </p:txBody>
      </p:sp>
      <p:pic>
        <p:nvPicPr>
          <p:cNvPr id="6" name="Content Placeholder 5" descr="Records.png"/>
          <p:cNvPicPr>
            <a:picLocks noGrp="1"/>
          </p:cNvPicPr>
          <p:nvPr>
            <p:ph sz="quarter" idx="1"/>
          </p:nvPr>
        </p:nvPicPr>
        <p:blipFill>
          <a:blip r:embed="rId2" cstate="print"/>
          <a:stretch>
            <a:fillRect/>
          </a:stretch>
        </p:blipFill>
        <p:spPr>
          <a:xfrm>
            <a:off x="914400" y="990600"/>
            <a:ext cx="7772400" cy="4800599"/>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u="sng" dirty="0" smtClean="0">
                <a:solidFill>
                  <a:schemeClr val="tx1">
                    <a:lumMod val="95000"/>
                    <a:lumOff val="5000"/>
                  </a:schemeClr>
                </a:solidFill>
                <a:latin typeface="Times New Roman" pitchFamily="18" charset="0"/>
                <a:cs typeface="Times New Roman" pitchFamily="18" charset="0"/>
              </a:rPr>
              <a:t>Testing &amp; Results</a:t>
            </a:r>
            <a:endParaRPr lang="en-US" sz="3200" b="1" u="sng" dirty="0">
              <a:solidFill>
                <a:schemeClr val="tx1">
                  <a:lumMod val="95000"/>
                  <a:lumOff val="5000"/>
                </a:schemeClr>
              </a:solidFill>
              <a:latin typeface="Times New Roman" pitchFamily="18" charset="0"/>
              <a:cs typeface="Times New Roman" pitchFamily="18" charset="0"/>
            </a:endParaRPr>
          </a:p>
        </p:txBody>
      </p:sp>
      <p:sp>
        <p:nvSpPr>
          <p:cNvPr id="3" name="Date Placeholder 2"/>
          <p:cNvSpPr>
            <a:spLocks noGrp="1"/>
          </p:cNvSpPr>
          <p:nvPr>
            <p:ph type="dt" sz="half" idx="10"/>
          </p:nvPr>
        </p:nvSpPr>
        <p:spPr/>
        <p:txBody>
          <a:bodyPr/>
          <a:lstStyle/>
          <a:p>
            <a:r>
              <a:rPr lang="en-US" dirty="0" smtClean="0"/>
              <a:t> 1 June 2026</a:t>
            </a:r>
            <a:endParaRPr lang="en-US" dirty="0"/>
          </a:p>
        </p:txBody>
      </p:sp>
      <p:sp>
        <p:nvSpPr>
          <p:cNvPr id="4" name="Slide Number Placeholder 3"/>
          <p:cNvSpPr>
            <a:spLocks noGrp="1"/>
          </p:cNvSpPr>
          <p:nvPr>
            <p:ph type="sldNum" sz="quarter" idx="12"/>
          </p:nvPr>
        </p:nvSpPr>
        <p:spPr>
          <a:solidFill>
            <a:srgbClr val="7030A0"/>
          </a:solidFill>
          <a:scene3d>
            <a:camera prst="orthographicFront"/>
            <a:lightRig rig="threePt" dir="t"/>
          </a:scene3d>
          <a:sp3d>
            <a:bevelT/>
          </a:sp3d>
        </p:spPr>
        <p:txBody>
          <a:bodyPr/>
          <a:lstStyle/>
          <a:p>
            <a:fld id="{846F2FBE-2846-4A92-A491-395E27355705}" type="slidenum">
              <a:rPr lang="en-US" smtClean="0"/>
              <a:pPr/>
              <a:t>18</a:t>
            </a:fld>
            <a:endParaRPr lang="en-US" dirty="0"/>
          </a:p>
        </p:txBody>
      </p:sp>
      <p:sp>
        <p:nvSpPr>
          <p:cNvPr id="5" name="Content Placeholder 4"/>
          <p:cNvSpPr>
            <a:spLocks noGrp="1"/>
          </p:cNvSpPr>
          <p:nvPr>
            <p:ph sz="quarter" idx="1"/>
          </p:nvPr>
        </p:nvSpPr>
        <p:spPr/>
        <p:txBody>
          <a:bodyPr>
            <a:normAutofit/>
          </a:bodyPr>
          <a:lstStyle/>
          <a:p>
            <a:pPr>
              <a:buNone/>
            </a:pPr>
            <a:r>
              <a:rPr lang="en-US" b="1" dirty="0" smtClean="0"/>
              <a:t> </a:t>
            </a:r>
            <a:endParaRPr lang="en-US" dirty="0"/>
          </a:p>
        </p:txBody>
      </p:sp>
      <p:graphicFrame>
        <p:nvGraphicFramePr>
          <p:cNvPr id="6" name="Table 5"/>
          <p:cNvGraphicFramePr>
            <a:graphicFrameLocks noGrp="1"/>
          </p:cNvGraphicFramePr>
          <p:nvPr/>
        </p:nvGraphicFramePr>
        <p:xfrm>
          <a:off x="1524000" y="1397000"/>
          <a:ext cx="6096000" cy="3931920"/>
        </p:xfrm>
        <a:graphic>
          <a:graphicData uri="http://schemas.openxmlformats.org/drawingml/2006/table">
            <a:tbl>
              <a:tblPr firstRow="1" bandRow="1">
                <a:tableStyleId>{073A0DAA-6AF3-43AB-8588-CEC1D06C72B9}</a:tableStyleId>
              </a:tblPr>
              <a:tblGrid>
                <a:gridCol w="1219200"/>
                <a:gridCol w="1219200"/>
                <a:gridCol w="1219200"/>
                <a:gridCol w="1219200"/>
                <a:gridCol w="1219200"/>
              </a:tblGrid>
              <a:tr h="370840">
                <a:tc>
                  <a:txBody>
                    <a:bodyPr/>
                    <a:lstStyle/>
                    <a:p>
                      <a:r>
                        <a:rPr kumimoji="0" lang="en-US" sz="2000" kern="1200" dirty="0" smtClean="0">
                          <a:latin typeface="Times New Roman" pitchFamily="18" charset="0"/>
                          <a:cs typeface="Times New Roman" pitchFamily="18" charset="0"/>
                        </a:rPr>
                        <a:t>Test Case ID</a:t>
                      </a:r>
                      <a:endParaRPr lang="en-US" sz="2000" dirty="0">
                        <a:latin typeface="Times New Roman" pitchFamily="18" charset="0"/>
                        <a:cs typeface="Times New Roman" pitchFamily="18" charset="0"/>
                      </a:endParaRPr>
                    </a:p>
                  </a:txBody>
                  <a:tcPr/>
                </a:tc>
                <a:tc>
                  <a:txBody>
                    <a:bodyPr/>
                    <a:lstStyle/>
                    <a:p>
                      <a:r>
                        <a:rPr kumimoji="0" lang="en-US" sz="2000" kern="1200" dirty="0" smtClean="0">
                          <a:latin typeface="Times New Roman" pitchFamily="18" charset="0"/>
                          <a:cs typeface="Times New Roman" pitchFamily="18" charset="0"/>
                        </a:rPr>
                        <a:t>Test Scenario</a:t>
                      </a:r>
                      <a:endParaRPr lang="en-US" sz="2000" dirty="0">
                        <a:latin typeface="Times New Roman" pitchFamily="18" charset="0"/>
                        <a:cs typeface="Times New Roman" pitchFamily="18" charset="0"/>
                      </a:endParaRPr>
                    </a:p>
                  </a:txBody>
                  <a:tcPr/>
                </a:tc>
                <a:tc>
                  <a:txBody>
                    <a:bodyPr/>
                    <a:lstStyle/>
                    <a:p>
                      <a:r>
                        <a:rPr kumimoji="0" lang="en-US" sz="2000" kern="1200" dirty="0" smtClean="0">
                          <a:latin typeface="Times New Roman" pitchFamily="18" charset="0"/>
                          <a:cs typeface="Times New Roman" pitchFamily="18" charset="0"/>
                        </a:rPr>
                        <a:t>Input</a:t>
                      </a:r>
                      <a:endParaRPr lang="en-US" sz="2000" dirty="0">
                        <a:latin typeface="Times New Roman" pitchFamily="18" charset="0"/>
                        <a:cs typeface="Times New Roman" pitchFamily="18" charset="0"/>
                      </a:endParaRPr>
                    </a:p>
                  </a:txBody>
                  <a:tcPr/>
                </a:tc>
                <a:tc>
                  <a:txBody>
                    <a:bodyPr/>
                    <a:lstStyle/>
                    <a:p>
                      <a:r>
                        <a:rPr kumimoji="0" lang="en-US" sz="2000" kern="1200" dirty="0" smtClean="0">
                          <a:latin typeface="Times New Roman" pitchFamily="18" charset="0"/>
                          <a:cs typeface="Times New Roman" pitchFamily="18" charset="0"/>
                        </a:rPr>
                        <a:t>Expected Output</a:t>
                      </a:r>
                      <a:endParaRPr lang="en-US" sz="20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000" kern="1200" dirty="0" smtClean="0">
                          <a:latin typeface="Times New Roman" pitchFamily="18" charset="0"/>
                          <a:cs typeface="Times New Roman" pitchFamily="18" charset="0"/>
                        </a:rPr>
                        <a:t>Purpose</a:t>
                      </a:r>
                    </a:p>
                    <a:p>
                      <a:endParaRPr lang="en-US" sz="2000" dirty="0">
                        <a:latin typeface="Times New Roman" pitchFamily="18" charset="0"/>
                        <a:cs typeface="Times New Roman" pitchFamily="18" charset="0"/>
                      </a:endParaRPr>
                    </a:p>
                  </a:txBody>
                  <a:tcPr/>
                </a:tc>
              </a:tr>
              <a:tr h="370840">
                <a:tc>
                  <a:txBody>
                    <a:bodyPr/>
                    <a:lstStyle/>
                    <a:p>
                      <a:r>
                        <a:rPr kumimoji="0" lang="en-US" sz="2000" kern="1200" dirty="0" smtClean="0">
                          <a:latin typeface="Times New Roman" pitchFamily="18" charset="0"/>
                          <a:cs typeface="Times New Roman" pitchFamily="18" charset="0"/>
                        </a:rPr>
                        <a:t>TC01</a:t>
                      </a:r>
                      <a:endParaRPr lang="en-US" sz="2000" dirty="0">
                        <a:latin typeface="Times New Roman" pitchFamily="18" charset="0"/>
                        <a:cs typeface="Times New Roman" pitchFamily="18" charset="0"/>
                      </a:endParaRPr>
                    </a:p>
                  </a:txBody>
                  <a:tcPr/>
                </a:tc>
                <a:tc>
                  <a:txBody>
                    <a:bodyPr/>
                    <a:lstStyle/>
                    <a:p>
                      <a:r>
                        <a:rPr kumimoji="0" lang="en-US" sz="2000" kern="1200" dirty="0" smtClean="0">
                          <a:latin typeface="Times New Roman" pitchFamily="18" charset="0"/>
                          <a:cs typeface="Times New Roman" pitchFamily="18" charset="0"/>
                        </a:rPr>
                        <a:t>Tumor Present (Positive Case)</a:t>
                      </a:r>
                      <a:endParaRPr lang="en-US" sz="2000" dirty="0">
                        <a:latin typeface="Times New Roman" pitchFamily="18" charset="0"/>
                        <a:cs typeface="Times New Roman" pitchFamily="18" charset="0"/>
                      </a:endParaRPr>
                    </a:p>
                  </a:txBody>
                  <a:tcPr/>
                </a:tc>
                <a:tc>
                  <a:txBody>
                    <a:bodyPr/>
                    <a:lstStyle/>
                    <a:p>
                      <a:r>
                        <a:rPr kumimoji="0" lang="en-US" sz="2000" kern="1200" dirty="0" smtClean="0">
                          <a:latin typeface="Times New Roman" pitchFamily="18" charset="0"/>
                          <a:cs typeface="Times New Roman" pitchFamily="18" charset="0"/>
                        </a:rPr>
                        <a:t>MRI image with tumor</a:t>
                      </a:r>
                      <a:endParaRPr lang="en-US" sz="2000" dirty="0">
                        <a:latin typeface="Times New Roman" pitchFamily="18" charset="0"/>
                        <a:cs typeface="Times New Roman" pitchFamily="18" charset="0"/>
                      </a:endParaRPr>
                    </a:p>
                  </a:txBody>
                  <a:tcPr/>
                </a:tc>
                <a:tc>
                  <a:txBody>
                    <a:bodyPr/>
                    <a:lstStyle/>
                    <a:p>
                      <a:r>
                        <a:rPr kumimoji="0" lang="en-US" sz="2000" kern="1200" dirty="0" smtClean="0">
                          <a:latin typeface="Times New Roman" pitchFamily="18" charset="0"/>
                          <a:cs typeface="Times New Roman" pitchFamily="18" charset="0"/>
                        </a:rPr>
                        <a:t>Tumor Detected</a:t>
                      </a:r>
                      <a:endParaRPr lang="en-US" sz="2000" dirty="0">
                        <a:latin typeface="Times New Roman" pitchFamily="18" charset="0"/>
                        <a:cs typeface="Times New Roman" pitchFamily="18" charset="0"/>
                      </a:endParaRPr>
                    </a:p>
                  </a:txBody>
                  <a:tcPr/>
                </a:tc>
                <a:tc>
                  <a:txBody>
                    <a:bodyPr/>
                    <a:lstStyle/>
                    <a:p>
                      <a:r>
                        <a:rPr kumimoji="0" lang="en-US" sz="2000" kern="1200" dirty="0" smtClean="0">
                          <a:latin typeface="Times New Roman" pitchFamily="18" charset="0"/>
                          <a:cs typeface="Times New Roman" pitchFamily="18" charset="0"/>
                        </a:rPr>
                        <a:t>Validate correct positive classification</a:t>
                      </a:r>
                      <a:endParaRPr lang="en-US" sz="2000" dirty="0">
                        <a:latin typeface="Times New Roman" pitchFamily="18" charset="0"/>
                        <a:cs typeface="Times New Roman" pitchFamily="18" charset="0"/>
                      </a:endParaRPr>
                    </a:p>
                  </a:txBody>
                  <a:tcPr/>
                </a:tc>
              </a:tr>
              <a:tr h="370840">
                <a:tc>
                  <a:txBody>
                    <a:bodyPr/>
                    <a:lstStyle/>
                    <a:p>
                      <a:r>
                        <a:rPr kumimoji="0" lang="en-US" sz="2000" kern="1200" dirty="0" smtClean="0">
                          <a:latin typeface="Times New Roman" pitchFamily="18" charset="0"/>
                          <a:cs typeface="Times New Roman" pitchFamily="18" charset="0"/>
                        </a:rPr>
                        <a:t>TC02</a:t>
                      </a:r>
                      <a:endParaRPr lang="en-US" sz="2000" dirty="0">
                        <a:latin typeface="Times New Roman" pitchFamily="18" charset="0"/>
                        <a:cs typeface="Times New Roman" pitchFamily="18" charset="0"/>
                      </a:endParaRPr>
                    </a:p>
                  </a:txBody>
                  <a:tcPr/>
                </a:tc>
                <a:tc>
                  <a:txBody>
                    <a:bodyPr/>
                    <a:lstStyle/>
                    <a:p>
                      <a:r>
                        <a:rPr kumimoji="0" lang="en-US" sz="2000" kern="1200" dirty="0" smtClean="0">
                          <a:latin typeface="Times New Roman" pitchFamily="18" charset="0"/>
                          <a:cs typeface="Times New Roman" pitchFamily="18" charset="0"/>
                        </a:rPr>
                        <a:t>No Tumor (Negative Case)</a:t>
                      </a:r>
                      <a:endParaRPr lang="en-US" sz="2000" dirty="0">
                        <a:latin typeface="Times New Roman" pitchFamily="18" charset="0"/>
                        <a:cs typeface="Times New Roman" pitchFamily="18" charset="0"/>
                      </a:endParaRPr>
                    </a:p>
                  </a:txBody>
                  <a:tcPr/>
                </a:tc>
                <a:tc>
                  <a:txBody>
                    <a:bodyPr/>
                    <a:lstStyle/>
                    <a:p>
                      <a:r>
                        <a:rPr kumimoji="0" lang="en-US" sz="2000" kern="1200" dirty="0" smtClean="0">
                          <a:latin typeface="Times New Roman" pitchFamily="18" charset="0"/>
                          <a:cs typeface="Times New Roman" pitchFamily="18" charset="0"/>
                        </a:rPr>
                        <a:t>Normal brain MRI</a:t>
                      </a:r>
                      <a:endParaRPr lang="en-US" sz="2000" dirty="0">
                        <a:latin typeface="Times New Roman" pitchFamily="18" charset="0"/>
                        <a:cs typeface="Times New Roman" pitchFamily="18" charset="0"/>
                      </a:endParaRPr>
                    </a:p>
                  </a:txBody>
                  <a:tcPr/>
                </a:tc>
                <a:tc>
                  <a:txBody>
                    <a:bodyPr/>
                    <a:lstStyle/>
                    <a:p>
                      <a:r>
                        <a:rPr kumimoji="0" lang="en-US" sz="2000" kern="1200" dirty="0" smtClean="0">
                          <a:latin typeface="Times New Roman" pitchFamily="18" charset="0"/>
                          <a:cs typeface="Times New Roman" pitchFamily="18" charset="0"/>
                        </a:rPr>
                        <a:t>No Tumor Detected</a:t>
                      </a:r>
                      <a:endParaRPr lang="en-US" sz="2000" dirty="0">
                        <a:latin typeface="Times New Roman" pitchFamily="18" charset="0"/>
                        <a:cs typeface="Times New Roman" pitchFamily="18" charset="0"/>
                      </a:endParaRPr>
                    </a:p>
                  </a:txBody>
                  <a:tcPr/>
                </a:tc>
                <a:tc>
                  <a:txBody>
                    <a:bodyPr/>
                    <a:lstStyle/>
                    <a:p>
                      <a:r>
                        <a:rPr kumimoji="0" lang="en-US" sz="2000" kern="1200" dirty="0" smtClean="0">
                          <a:latin typeface="Times New Roman" pitchFamily="18" charset="0"/>
                          <a:cs typeface="Times New Roman" pitchFamily="18" charset="0"/>
                        </a:rPr>
                        <a:t>Validate correct negative classification</a:t>
                      </a:r>
                      <a:endParaRPr lang="en-US" sz="2000" dirty="0">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u="sng" dirty="0" smtClean="0">
                <a:solidFill>
                  <a:schemeClr val="tx1">
                    <a:lumMod val="95000"/>
                    <a:lumOff val="5000"/>
                  </a:schemeClr>
                </a:solidFill>
                <a:latin typeface="Times New Roman" pitchFamily="18" charset="0"/>
                <a:cs typeface="Times New Roman" pitchFamily="18" charset="0"/>
              </a:rPr>
              <a:t>Advantages</a:t>
            </a:r>
            <a:endParaRPr lang="en-US" sz="3200" b="1" u="sng" dirty="0">
              <a:solidFill>
                <a:schemeClr val="tx1">
                  <a:lumMod val="95000"/>
                  <a:lumOff val="5000"/>
                </a:schemeClr>
              </a:solidFill>
              <a:latin typeface="Times New Roman" pitchFamily="18" charset="0"/>
              <a:cs typeface="Times New Roman" pitchFamily="18" charset="0"/>
            </a:endParaRPr>
          </a:p>
        </p:txBody>
      </p:sp>
      <p:sp>
        <p:nvSpPr>
          <p:cNvPr id="3" name="Date Placeholder 2"/>
          <p:cNvSpPr>
            <a:spLocks noGrp="1"/>
          </p:cNvSpPr>
          <p:nvPr>
            <p:ph type="dt" sz="half" idx="10"/>
          </p:nvPr>
        </p:nvSpPr>
        <p:spPr/>
        <p:txBody>
          <a:bodyPr/>
          <a:lstStyle/>
          <a:p>
            <a:r>
              <a:rPr lang="en-US" dirty="0" smtClean="0"/>
              <a:t> 1 June 2026</a:t>
            </a:r>
            <a:endParaRPr lang="en-US" dirty="0"/>
          </a:p>
        </p:txBody>
      </p:sp>
      <p:sp>
        <p:nvSpPr>
          <p:cNvPr id="4" name="Slide Number Placeholder 3"/>
          <p:cNvSpPr>
            <a:spLocks noGrp="1"/>
          </p:cNvSpPr>
          <p:nvPr>
            <p:ph type="sldNum" sz="quarter" idx="12"/>
          </p:nvPr>
        </p:nvSpPr>
        <p:spPr>
          <a:solidFill>
            <a:srgbClr val="7030A0"/>
          </a:solidFill>
          <a:scene3d>
            <a:camera prst="orthographicFront"/>
            <a:lightRig rig="threePt" dir="t"/>
          </a:scene3d>
          <a:sp3d>
            <a:bevelT/>
          </a:sp3d>
        </p:spPr>
        <p:txBody>
          <a:bodyPr/>
          <a:lstStyle/>
          <a:p>
            <a:fld id="{846F2FBE-2846-4A92-A491-395E27355705}" type="slidenum">
              <a:rPr lang="en-US" smtClean="0"/>
              <a:pPr/>
              <a:t>19</a:t>
            </a:fld>
            <a:endParaRPr lang="en-US" dirty="0"/>
          </a:p>
        </p:txBody>
      </p:sp>
      <p:sp>
        <p:nvSpPr>
          <p:cNvPr id="5" name="Content Placeholder 4"/>
          <p:cNvSpPr>
            <a:spLocks noGrp="1"/>
          </p:cNvSpPr>
          <p:nvPr>
            <p:ph sz="quarter" idx="1"/>
          </p:nvPr>
        </p:nvSpPr>
        <p:spPr/>
        <p:txBody>
          <a:bodyPr>
            <a:normAutofit/>
          </a:bodyPr>
          <a:lstStyle/>
          <a:p>
            <a:pPr marL="514350" indent="-514350">
              <a:buClr>
                <a:srgbClr val="7030A0"/>
              </a:buClr>
              <a:buFont typeface="+mj-lt"/>
              <a:buAutoNum type="arabicPeriod"/>
            </a:pPr>
            <a:endParaRPr lang="en-US" sz="2400" dirty="0" smtClean="0">
              <a:latin typeface="Times New Roman" pitchFamily="18" charset="0"/>
              <a:cs typeface="Times New Roman" pitchFamily="18" charset="0"/>
            </a:endParaRPr>
          </a:p>
          <a:p>
            <a:pPr marL="514350" indent="-514350">
              <a:buClr>
                <a:srgbClr val="7030A0"/>
              </a:buClr>
              <a:buFont typeface="+mj-lt"/>
              <a:buAutoNum type="arabicPeriod"/>
            </a:pPr>
            <a:endParaRPr lang="en-US" sz="2400" dirty="0" smtClean="0">
              <a:latin typeface="Times New Roman" pitchFamily="18" charset="0"/>
              <a:cs typeface="Times New Roman" pitchFamily="18" charset="0"/>
            </a:endParaRPr>
          </a:p>
          <a:p>
            <a:pPr marL="514350" indent="-514350">
              <a:buClr>
                <a:srgbClr val="7030A0"/>
              </a:buClr>
              <a:buFont typeface="+mj-lt"/>
              <a:buAutoNum type="arabicPeriod"/>
            </a:pPr>
            <a:r>
              <a:rPr lang="en-US" sz="2400" dirty="0" smtClean="0">
                <a:latin typeface="Times New Roman" pitchFamily="18" charset="0"/>
                <a:cs typeface="Times New Roman" pitchFamily="18" charset="0"/>
              </a:rPr>
              <a:t>Enhanced Diagnostic Accuracy and Consistency</a:t>
            </a:r>
          </a:p>
          <a:p>
            <a:pPr marL="514350" indent="-514350">
              <a:buClr>
                <a:srgbClr val="7030A0"/>
              </a:buClr>
              <a:buFont typeface="+mj-lt"/>
              <a:buAutoNum type="arabicPeriod"/>
            </a:pPr>
            <a:r>
              <a:rPr lang="en-US" sz="2400" dirty="0" smtClean="0">
                <a:latin typeface="Times New Roman" pitchFamily="18" charset="0"/>
                <a:cs typeface="Times New Roman" pitchFamily="18" charset="0"/>
              </a:rPr>
              <a:t>Significant Time Efficiency</a:t>
            </a:r>
          </a:p>
          <a:p>
            <a:pPr marL="514350" indent="-514350">
              <a:buClr>
                <a:srgbClr val="7030A0"/>
              </a:buClr>
              <a:buFont typeface="+mj-lt"/>
              <a:buAutoNum type="arabicPeriod"/>
            </a:pPr>
            <a:r>
              <a:rPr lang="en-US" sz="2400" dirty="0" smtClean="0">
                <a:latin typeface="Times New Roman" pitchFamily="18" charset="0"/>
                <a:cs typeface="Times New Roman" pitchFamily="18" charset="0"/>
              </a:rPr>
              <a:t>Early Detection and Improved Prognosis</a:t>
            </a:r>
          </a:p>
          <a:p>
            <a:pPr marL="514350" indent="-514350">
              <a:buClr>
                <a:srgbClr val="7030A0"/>
              </a:buClr>
              <a:buFont typeface="+mj-lt"/>
              <a:buAutoNum type="arabicPeriod"/>
            </a:pPr>
            <a:r>
              <a:rPr lang="en-US" sz="2400" dirty="0" smtClean="0">
                <a:latin typeface="Times New Roman" pitchFamily="18" charset="0"/>
                <a:cs typeface="Times New Roman" pitchFamily="18" charset="0"/>
              </a:rPr>
              <a:t>Objective Quantitative analysis</a:t>
            </a:r>
          </a:p>
          <a:p>
            <a:pPr marL="514350" indent="-514350">
              <a:buClr>
                <a:srgbClr val="7030A0"/>
              </a:buClr>
              <a:buFont typeface="+mj-lt"/>
              <a:buAutoNum type="arabicPeriod"/>
            </a:pPr>
            <a:r>
              <a:rPr lang="en-US" sz="2400" dirty="0" smtClean="0">
                <a:latin typeface="Times New Roman" pitchFamily="18" charset="0"/>
                <a:cs typeface="Times New Roman" pitchFamily="18" charset="0"/>
              </a:rPr>
              <a:t>Cost -Effectiveness</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u="sng" dirty="0" smtClean="0">
                <a:solidFill>
                  <a:schemeClr val="tx1">
                    <a:lumMod val="95000"/>
                    <a:lumOff val="5000"/>
                  </a:schemeClr>
                </a:solidFill>
                <a:latin typeface="Times New Roman" pitchFamily="18" charset="0"/>
                <a:cs typeface="Times New Roman" pitchFamily="18" charset="0"/>
              </a:rPr>
              <a:t>Challenge Faced</a:t>
            </a:r>
            <a:endParaRPr lang="en-US" sz="3200" b="1" u="sng" dirty="0">
              <a:solidFill>
                <a:schemeClr val="tx1">
                  <a:lumMod val="95000"/>
                  <a:lumOff val="5000"/>
                </a:schemeClr>
              </a:solidFill>
              <a:latin typeface="Times New Roman" pitchFamily="18" charset="0"/>
              <a:cs typeface="Times New Roman" pitchFamily="18" charset="0"/>
            </a:endParaRPr>
          </a:p>
        </p:txBody>
      </p:sp>
      <p:sp>
        <p:nvSpPr>
          <p:cNvPr id="3" name="Date Placeholder 2"/>
          <p:cNvSpPr>
            <a:spLocks noGrp="1"/>
          </p:cNvSpPr>
          <p:nvPr>
            <p:ph type="dt" sz="half" idx="10"/>
          </p:nvPr>
        </p:nvSpPr>
        <p:spPr/>
        <p:txBody>
          <a:bodyPr/>
          <a:lstStyle/>
          <a:p>
            <a:r>
              <a:rPr lang="en-US" dirty="0" smtClean="0"/>
              <a:t> 1 June 2026</a:t>
            </a:r>
            <a:endParaRPr lang="en-US" dirty="0"/>
          </a:p>
        </p:txBody>
      </p:sp>
      <p:sp>
        <p:nvSpPr>
          <p:cNvPr id="4" name="Slide Number Placeholder 3"/>
          <p:cNvSpPr>
            <a:spLocks noGrp="1"/>
          </p:cNvSpPr>
          <p:nvPr>
            <p:ph type="sldNum" sz="quarter" idx="12"/>
          </p:nvPr>
        </p:nvSpPr>
        <p:spPr>
          <a:solidFill>
            <a:srgbClr val="7030A0"/>
          </a:solidFill>
          <a:scene3d>
            <a:camera prst="orthographicFront"/>
            <a:lightRig rig="threePt" dir="t"/>
          </a:scene3d>
          <a:sp3d>
            <a:bevelT/>
          </a:sp3d>
        </p:spPr>
        <p:txBody>
          <a:bodyPr/>
          <a:lstStyle/>
          <a:p>
            <a:fld id="{846F2FBE-2846-4A92-A491-395E27355705}" type="slidenum">
              <a:rPr lang="en-US" smtClean="0"/>
              <a:pPr/>
              <a:t>20</a:t>
            </a:fld>
            <a:endParaRPr lang="en-US" dirty="0"/>
          </a:p>
        </p:txBody>
      </p:sp>
      <p:sp>
        <p:nvSpPr>
          <p:cNvPr id="5" name="Content Placeholder 4"/>
          <p:cNvSpPr>
            <a:spLocks noGrp="1"/>
          </p:cNvSpPr>
          <p:nvPr>
            <p:ph sz="quarter" idx="1"/>
          </p:nvPr>
        </p:nvSpPr>
        <p:spPr/>
        <p:txBody>
          <a:bodyPr/>
          <a:lstStyle/>
          <a:p>
            <a:pPr marL="457200" indent="-457200">
              <a:buClr>
                <a:srgbClr val="7030A0"/>
              </a:buClr>
              <a:buFont typeface="+mj-lt"/>
              <a:buAutoNum type="arabicPeriod"/>
            </a:pPr>
            <a:endParaRPr lang="en-US" sz="2400" dirty="0" smtClean="0">
              <a:latin typeface="Times New Roman" pitchFamily="18" charset="0"/>
              <a:cs typeface="Times New Roman" pitchFamily="18" charset="0"/>
            </a:endParaRPr>
          </a:p>
          <a:p>
            <a:pPr marL="457200" indent="-457200">
              <a:buClr>
                <a:srgbClr val="7030A0"/>
              </a:buClr>
              <a:buFont typeface="+mj-lt"/>
              <a:buAutoNum type="arabicPeriod"/>
            </a:pPr>
            <a:r>
              <a:rPr lang="en-US" sz="2400" dirty="0" smtClean="0">
                <a:latin typeface="Times New Roman" pitchFamily="18" charset="0"/>
                <a:cs typeface="Times New Roman" pitchFamily="18" charset="0"/>
              </a:rPr>
              <a:t>Data Scarcity &amp; Quality</a:t>
            </a:r>
          </a:p>
          <a:p>
            <a:pPr marL="457200" indent="-457200">
              <a:buClr>
                <a:srgbClr val="7030A0"/>
              </a:buClr>
              <a:buFont typeface="+mj-lt"/>
              <a:buAutoNum type="arabicPeriod"/>
            </a:pPr>
            <a:r>
              <a:rPr lang="en-US" sz="2400" dirty="0" smtClean="0">
                <a:latin typeface="Times New Roman" pitchFamily="18" charset="0"/>
                <a:cs typeface="Times New Roman" pitchFamily="18" charset="0"/>
              </a:rPr>
              <a:t>Data Imbalance</a:t>
            </a:r>
          </a:p>
          <a:p>
            <a:pPr marL="457200" indent="-457200">
              <a:buClr>
                <a:srgbClr val="7030A0"/>
              </a:buClr>
              <a:buFont typeface="+mj-lt"/>
              <a:buAutoNum type="arabicPeriod"/>
            </a:pPr>
            <a:r>
              <a:rPr lang="en-US" sz="2400" dirty="0" smtClean="0">
                <a:latin typeface="Times New Roman" pitchFamily="18" charset="0"/>
                <a:cs typeface="Times New Roman" pitchFamily="18" charset="0"/>
              </a:rPr>
              <a:t>Computational  Complexity</a:t>
            </a:r>
          </a:p>
          <a:p>
            <a:pPr marL="457200" indent="-457200">
              <a:buClr>
                <a:srgbClr val="7030A0"/>
              </a:buClr>
              <a:buFont typeface="+mj-lt"/>
              <a:buAutoNum type="arabicPeriod"/>
            </a:pPr>
            <a:r>
              <a:rPr lang="en-US" sz="2400" dirty="0" smtClean="0">
                <a:latin typeface="Times New Roman" pitchFamily="18" charset="0"/>
                <a:cs typeface="Times New Roman" pitchFamily="18" charset="0"/>
              </a:rPr>
              <a:t>Algorithm Bias</a:t>
            </a:r>
          </a:p>
          <a:p>
            <a:pPr marL="457200" indent="-457200">
              <a:buClr>
                <a:srgbClr val="7030A0"/>
              </a:buClr>
              <a:buFont typeface="+mj-lt"/>
              <a:buAutoNum type="arabicPeriod"/>
            </a:pPr>
            <a:r>
              <a:rPr lang="en-US" sz="2400" dirty="0" smtClean="0">
                <a:latin typeface="Times New Roman" pitchFamily="18" charset="0"/>
                <a:cs typeface="Times New Roman" pitchFamily="18" charset="0"/>
              </a:rPr>
              <a:t>Patient Privacy &amp; Consent</a:t>
            </a:r>
          </a:p>
          <a:p>
            <a:pPr marL="457200" indent="-457200">
              <a:buClr>
                <a:srgbClr val="7030A0"/>
              </a:buClr>
              <a:buFont typeface="+mj-lt"/>
              <a:buAutoNum type="arabicPeriod"/>
            </a:pPr>
            <a:r>
              <a:rPr lang="en-US" sz="2400" dirty="0" err="1" smtClean="0">
                <a:latin typeface="Times New Roman" pitchFamily="18" charset="0"/>
                <a:cs typeface="Times New Roman" pitchFamily="18" charset="0"/>
              </a:rPr>
              <a:t>Explainability</a:t>
            </a:r>
            <a:endParaRPr lang="en-US" sz="2400" dirty="0" smtClean="0">
              <a:latin typeface="Times New Roman" pitchFamily="18" charset="0"/>
              <a:cs typeface="Times New Roman" pitchFamily="18" charset="0"/>
            </a:endParaRPr>
          </a:p>
          <a:p>
            <a:pPr>
              <a:buNone/>
            </a:pP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u="sng" dirty="0" smtClean="0">
                <a:solidFill>
                  <a:schemeClr val="tx1"/>
                </a:solidFill>
                <a:latin typeface="Times New Roman" pitchFamily="18" charset="0"/>
                <a:cs typeface="Times New Roman" pitchFamily="18" charset="0"/>
              </a:rPr>
              <a:t>Limitations</a:t>
            </a:r>
            <a:br>
              <a:rPr lang="en-US" sz="3200" b="1" u="sng" dirty="0" smtClean="0">
                <a:solidFill>
                  <a:schemeClr val="tx1"/>
                </a:solidFill>
                <a:latin typeface="Times New Roman" pitchFamily="18" charset="0"/>
                <a:cs typeface="Times New Roman" pitchFamily="18" charset="0"/>
              </a:rPr>
            </a:br>
            <a:endParaRPr lang="en-US" sz="3200" u="sng" dirty="0">
              <a:solidFill>
                <a:schemeClr val="tx1"/>
              </a:solidFill>
              <a:latin typeface="Times New Roman" pitchFamily="18" charset="0"/>
              <a:cs typeface="Times New Roman" pitchFamily="18" charset="0"/>
            </a:endParaRPr>
          </a:p>
        </p:txBody>
      </p:sp>
      <p:sp>
        <p:nvSpPr>
          <p:cNvPr id="3" name="Date Placeholder 2"/>
          <p:cNvSpPr>
            <a:spLocks noGrp="1"/>
          </p:cNvSpPr>
          <p:nvPr>
            <p:ph type="dt" sz="half" idx="10"/>
          </p:nvPr>
        </p:nvSpPr>
        <p:spPr/>
        <p:txBody>
          <a:bodyPr/>
          <a:lstStyle/>
          <a:p>
            <a:r>
              <a:rPr lang="en-US" dirty="0" smtClean="0"/>
              <a:t> 1 June 2026</a:t>
            </a:r>
            <a:endParaRPr lang="en-US" dirty="0"/>
          </a:p>
        </p:txBody>
      </p:sp>
      <p:sp>
        <p:nvSpPr>
          <p:cNvPr id="4" name="Slide Number Placeholder 3"/>
          <p:cNvSpPr>
            <a:spLocks noGrp="1"/>
          </p:cNvSpPr>
          <p:nvPr>
            <p:ph type="sldNum" sz="quarter" idx="12"/>
          </p:nvPr>
        </p:nvSpPr>
        <p:spPr>
          <a:solidFill>
            <a:srgbClr val="7030A0"/>
          </a:solidFill>
          <a:scene3d>
            <a:camera prst="orthographicFront"/>
            <a:lightRig rig="threePt" dir="t"/>
          </a:scene3d>
          <a:sp3d>
            <a:bevelT/>
          </a:sp3d>
        </p:spPr>
        <p:txBody>
          <a:bodyPr/>
          <a:lstStyle/>
          <a:p>
            <a:fld id="{846F2FBE-2846-4A92-A491-395E27355705}" type="slidenum">
              <a:rPr lang="en-US" smtClean="0"/>
              <a:pPr/>
              <a:t>21</a:t>
            </a:fld>
            <a:endParaRPr lang="en-US"/>
          </a:p>
        </p:txBody>
      </p:sp>
      <p:sp>
        <p:nvSpPr>
          <p:cNvPr id="5" name="Content Placeholder 4"/>
          <p:cNvSpPr>
            <a:spLocks noGrp="1"/>
          </p:cNvSpPr>
          <p:nvPr>
            <p:ph sz="quarter" idx="1"/>
          </p:nvPr>
        </p:nvSpPr>
        <p:spPr/>
        <p:txBody>
          <a:bodyPr>
            <a:normAutofit/>
          </a:bodyPr>
          <a:lstStyle/>
          <a:p>
            <a:pPr>
              <a:buClr>
                <a:srgbClr val="7030A0"/>
              </a:buClr>
              <a:buFont typeface="Wingdings" pitchFamily="2" charset="2"/>
              <a:buChar char="Ø"/>
            </a:pPr>
            <a:r>
              <a:rPr lang="en-US" sz="2400" dirty="0" smtClean="0">
                <a:latin typeface="Times New Roman" pitchFamily="18" charset="0"/>
                <a:cs typeface="Times New Roman" pitchFamily="18" charset="0"/>
              </a:rPr>
              <a:t>Dependence on Dataset Quality</a:t>
            </a:r>
          </a:p>
          <a:p>
            <a:pPr>
              <a:buClr>
                <a:srgbClr val="7030A0"/>
              </a:buClr>
              <a:buFont typeface="Wingdings" pitchFamily="2" charset="2"/>
              <a:buChar char="Ø"/>
            </a:pPr>
            <a:r>
              <a:rPr lang="en-US" sz="2400" dirty="0" smtClean="0">
                <a:latin typeface="Times New Roman" pitchFamily="18" charset="0"/>
                <a:cs typeface="Times New Roman" pitchFamily="18" charset="0"/>
              </a:rPr>
              <a:t>Limited Generalization</a:t>
            </a:r>
          </a:p>
          <a:p>
            <a:pPr>
              <a:buClr>
                <a:srgbClr val="7030A0"/>
              </a:buClr>
              <a:buFont typeface="Wingdings" pitchFamily="2" charset="2"/>
              <a:buChar char="Ø"/>
            </a:pPr>
            <a:r>
              <a:rPr lang="en-US" sz="2400" dirty="0" smtClean="0">
                <a:latin typeface="Times New Roman" pitchFamily="18" charset="0"/>
                <a:cs typeface="Times New Roman" pitchFamily="18" charset="0"/>
              </a:rPr>
              <a:t>Data Imbalance Problem</a:t>
            </a:r>
          </a:p>
          <a:p>
            <a:pPr>
              <a:buClr>
                <a:srgbClr val="7030A0"/>
              </a:buClr>
              <a:buFont typeface="Wingdings" pitchFamily="2" charset="2"/>
              <a:buChar char="Ø"/>
            </a:pPr>
            <a:r>
              <a:rPr lang="en-US" sz="2400" dirty="0" smtClean="0">
                <a:latin typeface="Times New Roman" pitchFamily="18" charset="0"/>
                <a:cs typeface="Times New Roman" pitchFamily="18" charset="0"/>
              </a:rPr>
              <a:t>High Computational Requirements</a:t>
            </a:r>
          </a:p>
          <a:p>
            <a:pPr>
              <a:buClr>
                <a:srgbClr val="7030A0"/>
              </a:buClr>
              <a:buFont typeface="Wingdings" pitchFamily="2" charset="2"/>
              <a:buChar char="Ø"/>
            </a:pPr>
            <a:r>
              <a:rPr lang="en-US" sz="2400" dirty="0" smtClean="0">
                <a:latin typeface="Times New Roman" pitchFamily="18" charset="0"/>
                <a:cs typeface="Times New Roman" pitchFamily="18" charset="0"/>
              </a:rPr>
              <a:t>Sensitivity to Image Quality</a:t>
            </a:r>
          </a:p>
          <a:p>
            <a:pPr>
              <a:buClr>
                <a:srgbClr val="7030A0"/>
              </a:buClr>
              <a:buFont typeface="Wingdings" pitchFamily="2" charset="2"/>
              <a:buChar char="Ø"/>
            </a:pPr>
            <a:r>
              <a:rPr lang="en-US" sz="2400" dirty="0" smtClean="0">
                <a:latin typeface="Times New Roman" pitchFamily="18" charset="0"/>
                <a:cs typeface="Times New Roman" pitchFamily="18" charset="0"/>
              </a:rPr>
              <a:t>. Lack of </a:t>
            </a:r>
            <a:r>
              <a:rPr lang="en-US" sz="2400" dirty="0" err="1" smtClean="0">
                <a:latin typeface="Times New Roman" pitchFamily="18" charset="0"/>
                <a:cs typeface="Times New Roman" pitchFamily="18" charset="0"/>
              </a:rPr>
              <a:t>Explainability</a:t>
            </a:r>
            <a:endParaRPr lang="en-US" sz="2400" dirty="0" smtClean="0">
              <a:latin typeface="Times New Roman" pitchFamily="18" charset="0"/>
              <a:cs typeface="Times New Roman" pitchFamily="18" charset="0"/>
            </a:endParaRPr>
          </a:p>
          <a:p>
            <a:pPr>
              <a:buClr>
                <a:srgbClr val="7030A0"/>
              </a:buClr>
              <a:buFont typeface="Wingdings" pitchFamily="2" charset="2"/>
              <a:buChar char="Ø"/>
            </a:pPr>
            <a:r>
              <a:rPr lang="en-US" sz="2400" dirty="0" smtClean="0">
                <a:latin typeface="Times New Roman" pitchFamily="18" charset="0"/>
                <a:cs typeface="Times New Roman" pitchFamily="18" charset="0"/>
              </a:rPr>
              <a:t>. Risk of </a:t>
            </a:r>
            <a:r>
              <a:rPr lang="en-US" sz="2400" dirty="0" err="1" smtClean="0">
                <a:latin typeface="Times New Roman" pitchFamily="18" charset="0"/>
                <a:cs typeface="Times New Roman" pitchFamily="18" charset="0"/>
              </a:rPr>
              <a:t>Overfitting</a:t>
            </a:r>
            <a:endParaRPr lang="en-US" sz="2400" dirty="0" smtClean="0">
              <a:latin typeface="Times New Roman" pitchFamily="18" charset="0"/>
              <a:cs typeface="Times New Roman" pitchFamily="18" charset="0"/>
            </a:endParaRPr>
          </a:p>
          <a:p>
            <a:pPr>
              <a:buClr>
                <a:srgbClr val="7030A0"/>
              </a:buClr>
              <a:buFont typeface="Wingdings" pitchFamily="2" charset="2"/>
              <a:buChar char="Ø"/>
            </a:pPr>
            <a:r>
              <a:rPr lang="en-US" sz="2400" dirty="0" smtClean="0">
                <a:latin typeface="Times New Roman" pitchFamily="18" charset="0"/>
                <a:cs typeface="Times New Roman" pitchFamily="18" charset="0"/>
              </a:rPr>
              <a:t>Limited Clinical Validation</a:t>
            </a:r>
          </a:p>
          <a:p>
            <a:pPr>
              <a:buClr>
                <a:srgbClr val="7030A0"/>
              </a:buClr>
              <a:buFont typeface="Wingdings" pitchFamily="2" charset="2"/>
              <a:buChar char="Ø"/>
            </a:pPr>
            <a:r>
              <a:rPr lang="en-US" sz="2400" dirty="0" smtClean="0">
                <a:latin typeface="Times New Roman" pitchFamily="18" charset="0"/>
                <a:cs typeface="Times New Roman" pitchFamily="18" charset="0"/>
              </a:rPr>
              <a:t>Variation in Tumor Types</a:t>
            </a:r>
          </a:p>
          <a:p>
            <a:pPr>
              <a:buClr>
                <a:srgbClr val="7030A0"/>
              </a:buClr>
              <a:buFont typeface="Wingdings" pitchFamily="2" charset="2"/>
              <a:buChar char="Ø"/>
            </a:pPr>
            <a:r>
              <a:rPr lang="en-US" sz="2400" dirty="0" smtClean="0">
                <a:latin typeface="Times New Roman" pitchFamily="18" charset="0"/>
                <a:cs typeface="Times New Roman" pitchFamily="18" charset="0"/>
              </a:rPr>
              <a:t>. Dependency on Preprocessing</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u="sng" dirty="0" smtClean="0">
                <a:solidFill>
                  <a:schemeClr val="tx1"/>
                </a:solidFill>
                <a:latin typeface="Times New Roman" pitchFamily="18" charset="0"/>
                <a:cs typeface="Times New Roman" pitchFamily="18" charset="0"/>
              </a:rPr>
              <a:t>Future Enhancements</a:t>
            </a:r>
            <a:endParaRPr lang="en-US" sz="3200" u="sng" dirty="0">
              <a:solidFill>
                <a:schemeClr val="tx1"/>
              </a:solidFill>
              <a:latin typeface="Times New Roman" pitchFamily="18" charset="0"/>
              <a:cs typeface="Times New Roman" pitchFamily="18" charset="0"/>
            </a:endParaRPr>
          </a:p>
        </p:txBody>
      </p:sp>
      <p:sp>
        <p:nvSpPr>
          <p:cNvPr id="3" name="Date Placeholder 2"/>
          <p:cNvSpPr>
            <a:spLocks noGrp="1"/>
          </p:cNvSpPr>
          <p:nvPr>
            <p:ph type="dt" sz="half" idx="10"/>
          </p:nvPr>
        </p:nvSpPr>
        <p:spPr/>
        <p:txBody>
          <a:bodyPr/>
          <a:lstStyle/>
          <a:p>
            <a:r>
              <a:rPr lang="en-US" dirty="0" smtClean="0"/>
              <a:t> 1 June 2026</a:t>
            </a:r>
            <a:endParaRPr lang="en-US" dirty="0"/>
          </a:p>
        </p:txBody>
      </p:sp>
      <p:sp>
        <p:nvSpPr>
          <p:cNvPr id="4" name="Slide Number Placeholder 3"/>
          <p:cNvSpPr>
            <a:spLocks noGrp="1"/>
          </p:cNvSpPr>
          <p:nvPr>
            <p:ph type="sldNum" sz="quarter" idx="12"/>
          </p:nvPr>
        </p:nvSpPr>
        <p:spPr>
          <a:solidFill>
            <a:srgbClr val="7030A0"/>
          </a:solidFill>
          <a:scene3d>
            <a:camera prst="orthographicFront"/>
            <a:lightRig rig="threePt" dir="t"/>
          </a:scene3d>
          <a:sp3d>
            <a:bevelT/>
          </a:sp3d>
        </p:spPr>
        <p:txBody>
          <a:bodyPr/>
          <a:lstStyle/>
          <a:p>
            <a:fld id="{846F2FBE-2846-4A92-A491-395E27355705}" type="slidenum">
              <a:rPr lang="en-US" smtClean="0"/>
              <a:pPr/>
              <a:t>22</a:t>
            </a:fld>
            <a:endParaRPr lang="en-US" dirty="0"/>
          </a:p>
        </p:txBody>
      </p:sp>
      <p:sp>
        <p:nvSpPr>
          <p:cNvPr id="5" name="Content Placeholder 4"/>
          <p:cNvSpPr>
            <a:spLocks noGrp="1"/>
          </p:cNvSpPr>
          <p:nvPr>
            <p:ph sz="quarter" idx="1"/>
          </p:nvPr>
        </p:nvSpPr>
        <p:spPr/>
        <p:txBody>
          <a:bodyPr>
            <a:normAutofit lnSpcReduction="10000"/>
          </a:bodyPr>
          <a:lstStyle/>
          <a:p>
            <a:pPr>
              <a:buClr>
                <a:srgbClr val="7030A0"/>
              </a:buClr>
              <a:buFont typeface="Wingdings" pitchFamily="2" charset="2"/>
              <a:buChar char="Ø"/>
            </a:pPr>
            <a:r>
              <a:rPr lang="en-US" dirty="0" smtClean="0">
                <a:latin typeface="Times New Roman" pitchFamily="18" charset="0"/>
                <a:cs typeface="Times New Roman" pitchFamily="18" charset="0"/>
              </a:rPr>
              <a:t>Advanced Deep Learning Architectures</a:t>
            </a:r>
          </a:p>
          <a:p>
            <a:pPr>
              <a:buClr>
                <a:srgbClr val="7030A0"/>
              </a:buClr>
              <a:buFont typeface="Wingdings" pitchFamily="2" charset="2"/>
              <a:buChar char="Ø"/>
            </a:pPr>
            <a:r>
              <a:rPr lang="en-US" dirty="0" smtClean="0">
                <a:latin typeface="Times New Roman" pitchFamily="18" charset="0"/>
                <a:cs typeface="Times New Roman" pitchFamily="18" charset="0"/>
              </a:rPr>
              <a:t>Data Augmentation Techniques</a:t>
            </a:r>
          </a:p>
          <a:p>
            <a:pPr>
              <a:buClr>
                <a:srgbClr val="7030A0"/>
              </a:buClr>
              <a:buFont typeface="Wingdings" pitchFamily="2" charset="2"/>
              <a:buChar char="Ø"/>
            </a:pPr>
            <a:r>
              <a:rPr lang="en-US" dirty="0" err="1" smtClean="0">
                <a:latin typeface="Times New Roman" pitchFamily="18" charset="0"/>
                <a:cs typeface="Times New Roman" pitchFamily="18" charset="0"/>
              </a:rPr>
              <a:t>Hyperparameter</a:t>
            </a:r>
            <a:r>
              <a:rPr lang="en-US" dirty="0" smtClean="0">
                <a:latin typeface="Times New Roman" pitchFamily="18" charset="0"/>
                <a:cs typeface="Times New Roman" pitchFamily="18" charset="0"/>
              </a:rPr>
              <a:t> Tuning</a:t>
            </a:r>
          </a:p>
          <a:p>
            <a:pPr>
              <a:buClr>
                <a:srgbClr val="7030A0"/>
              </a:buClr>
              <a:buFont typeface="Wingdings" pitchFamily="2" charset="2"/>
              <a:buChar char="Ø"/>
            </a:pPr>
            <a:r>
              <a:rPr lang="en-US" dirty="0" smtClean="0">
                <a:latin typeface="Times New Roman" pitchFamily="18" charset="0"/>
                <a:cs typeface="Times New Roman" pitchFamily="18" charset="0"/>
              </a:rPr>
              <a:t>Improved Image Preprocessing</a:t>
            </a:r>
          </a:p>
          <a:p>
            <a:pPr>
              <a:buClr>
                <a:srgbClr val="7030A0"/>
              </a:buClr>
              <a:buFont typeface="Wingdings" pitchFamily="2" charset="2"/>
              <a:buChar char="Ø"/>
            </a:pPr>
            <a:r>
              <a:rPr lang="en-US" dirty="0" smtClean="0">
                <a:latin typeface="Times New Roman" pitchFamily="18" charset="0"/>
                <a:cs typeface="Times New Roman" pitchFamily="18" charset="0"/>
              </a:rPr>
              <a:t>Transfer Learning</a:t>
            </a:r>
          </a:p>
          <a:p>
            <a:pPr>
              <a:buClr>
                <a:srgbClr val="7030A0"/>
              </a:buClr>
              <a:buFont typeface="Wingdings" pitchFamily="2" charset="2"/>
              <a:buChar char="Ø"/>
            </a:pPr>
            <a:r>
              <a:rPr lang="en-US" dirty="0" smtClean="0">
                <a:latin typeface="Times New Roman" pitchFamily="18" charset="0"/>
                <a:cs typeface="Times New Roman" pitchFamily="18" charset="0"/>
              </a:rPr>
              <a:t>Multi-Class Classification</a:t>
            </a:r>
          </a:p>
          <a:p>
            <a:pPr>
              <a:buClr>
                <a:srgbClr val="7030A0"/>
              </a:buClr>
              <a:buFont typeface="Wingdings" pitchFamily="2" charset="2"/>
              <a:buChar char="Ø"/>
            </a:pPr>
            <a:r>
              <a:rPr lang="en-US" dirty="0" smtClean="0">
                <a:latin typeface="Times New Roman" pitchFamily="18" charset="0"/>
                <a:cs typeface="Times New Roman" pitchFamily="18" charset="0"/>
              </a:rPr>
              <a:t>Explainable AI (XAI) Integration</a:t>
            </a:r>
          </a:p>
          <a:p>
            <a:pPr>
              <a:buClr>
                <a:srgbClr val="7030A0"/>
              </a:buClr>
              <a:buFont typeface="Wingdings" pitchFamily="2" charset="2"/>
              <a:buChar char="Ø"/>
            </a:pPr>
            <a:r>
              <a:rPr lang="en-US" dirty="0" smtClean="0">
                <a:latin typeface="Times New Roman" pitchFamily="18" charset="0"/>
                <a:cs typeface="Times New Roman" pitchFamily="18" charset="0"/>
              </a:rPr>
              <a:t>Web or Mobile Application Deployment</a:t>
            </a:r>
          </a:p>
          <a:p>
            <a:pPr>
              <a:buClr>
                <a:srgbClr val="7030A0"/>
              </a:buClr>
              <a:buFont typeface="Wingdings" pitchFamily="2" charset="2"/>
              <a:buChar char="Ø"/>
            </a:pPr>
            <a:r>
              <a:rPr lang="en-US" dirty="0" smtClean="0">
                <a:latin typeface="Times New Roman" pitchFamily="18" charset="0"/>
                <a:cs typeface="Times New Roman" pitchFamily="18" charset="0"/>
              </a:rPr>
              <a:t>Cloud Integration</a:t>
            </a:r>
          </a:p>
          <a:p>
            <a:pPr>
              <a:buClr>
                <a:srgbClr val="7030A0"/>
              </a:buClr>
              <a:buFont typeface="Wingdings" pitchFamily="2" charset="2"/>
              <a:buChar char="Ø"/>
            </a:pPr>
            <a:r>
              <a:rPr lang="en-US" dirty="0" smtClean="0">
                <a:latin typeface="Times New Roman" pitchFamily="18" charset="0"/>
                <a:cs typeface="Times New Roman" pitchFamily="18" charset="0"/>
              </a:rPr>
              <a:t>Real-Time Prediction System</a:t>
            </a:r>
          </a:p>
          <a:p>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u="sng" dirty="0" smtClean="0">
                <a:solidFill>
                  <a:schemeClr val="tx1">
                    <a:lumMod val="95000"/>
                    <a:lumOff val="5000"/>
                  </a:schemeClr>
                </a:solidFill>
                <a:latin typeface="Times New Roman" pitchFamily="18" charset="0"/>
                <a:cs typeface="Times New Roman" pitchFamily="18" charset="0"/>
              </a:rPr>
              <a:t>Conclusion</a:t>
            </a:r>
            <a:endParaRPr lang="en-US" sz="3200" b="1" u="sng" dirty="0">
              <a:solidFill>
                <a:schemeClr val="tx1">
                  <a:lumMod val="95000"/>
                  <a:lumOff val="5000"/>
                </a:schemeClr>
              </a:solidFill>
              <a:latin typeface="Times New Roman" pitchFamily="18" charset="0"/>
              <a:cs typeface="Times New Roman" pitchFamily="18" charset="0"/>
            </a:endParaRPr>
          </a:p>
        </p:txBody>
      </p:sp>
      <p:sp>
        <p:nvSpPr>
          <p:cNvPr id="3" name="Date Placeholder 2"/>
          <p:cNvSpPr>
            <a:spLocks noGrp="1"/>
          </p:cNvSpPr>
          <p:nvPr>
            <p:ph type="dt" sz="half" idx="10"/>
          </p:nvPr>
        </p:nvSpPr>
        <p:spPr/>
        <p:txBody>
          <a:bodyPr/>
          <a:lstStyle/>
          <a:p>
            <a:r>
              <a:rPr lang="en-US" dirty="0" smtClean="0"/>
              <a:t> 1 June 2026</a:t>
            </a:r>
            <a:endParaRPr lang="en-US" dirty="0"/>
          </a:p>
        </p:txBody>
      </p:sp>
      <p:sp>
        <p:nvSpPr>
          <p:cNvPr id="4" name="Slide Number Placeholder 3"/>
          <p:cNvSpPr>
            <a:spLocks noGrp="1"/>
          </p:cNvSpPr>
          <p:nvPr>
            <p:ph type="sldNum" sz="quarter" idx="12"/>
          </p:nvPr>
        </p:nvSpPr>
        <p:spPr>
          <a:solidFill>
            <a:srgbClr val="7030A0"/>
          </a:solidFill>
          <a:scene3d>
            <a:camera prst="orthographicFront"/>
            <a:lightRig rig="threePt" dir="t"/>
          </a:scene3d>
          <a:sp3d>
            <a:bevelT/>
          </a:sp3d>
        </p:spPr>
        <p:txBody>
          <a:bodyPr/>
          <a:lstStyle/>
          <a:p>
            <a:fld id="{846F2FBE-2846-4A92-A491-395E27355705}" type="slidenum">
              <a:rPr lang="en-US" smtClean="0"/>
              <a:pPr/>
              <a:t>23</a:t>
            </a:fld>
            <a:endParaRPr lang="en-US" dirty="0"/>
          </a:p>
        </p:txBody>
      </p:sp>
      <p:sp>
        <p:nvSpPr>
          <p:cNvPr id="5" name="Content Placeholder 4"/>
          <p:cNvSpPr>
            <a:spLocks noGrp="1"/>
          </p:cNvSpPr>
          <p:nvPr>
            <p:ph sz="quarter" idx="1"/>
          </p:nvPr>
        </p:nvSpPr>
        <p:spPr/>
        <p:txBody>
          <a:bodyPr>
            <a:normAutofit/>
          </a:bodyPr>
          <a:lstStyle/>
          <a:p>
            <a:pPr algn="just">
              <a:buNone/>
            </a:pPr>
            <a:endParaRPr lang="en-US" sz="2400" dirty="0" smtClean="0">
              <a:latin typeface="Times New Roman" pitchFamily="18" charset="0"/>
              <a:cs typeface="Times New Roman" pitchFamily="18" charset="0"/>
            </a:endParaRPr>
          </a:p>
          <a:p>
            <a:pPr algn="just">
              <a:buNone/>
            </a:pPr>
            <a:endParaRPr lang="en-US" sz="2400" dirty="0" smtClean="0">
              <a:latin typeface="Times New Roman" pitchFamily="18" charset="0"/>
              <a:cs typeface="Times New Roman" pitchFamily="18" charset="0"/>
            </a:endParaRPr>
          </a:p>
          <a:p>
            <a:pPr algn="just">
              <a:buNone/>
            </a:pPr>
            <a:r>
              <a:rPr lang="en-US" sz="2400" dirty="0" smtClean="0">
                <a:latin typeface="Times New Roman" pitchFamily="18" charset="0"/>
                <a:cs typeface="Times New Roman" pitchFamily="18" charset="0"/>
              </a:rPr>
              <a:t>This project successfully demonstrates the transformative potential of integrating machine learning and deep learning into medical </a:t>
            </a:r>
            <a:r>
              <a:rPr lang="en-US" sz="2400" dirty="0" err="1" smtClean="0">
                <a:latin typeface="Times New Roman" pitchFamily="18" charset="0"/>
                <a:cs typeface="Times New Roman" pitchFamily="18" charset="0"/>
              </a:rPr>
              <a:t>dignostics</a:t>
            </a:r>
            <a:r>
              <a:rPr lang="en-US" sz="2400" dirty="0" smtClean="0">
                <a:latin typeface="Times New Roman" pitchFamily="18" charset="0"/>
                <a:cs typeface="Times New Roman" pitchFamily="18" charset="0"/>
              </a:rPr>
              <a:t>. By automating the analysis of MRI scans, this system addresses the limitations of manual inspection – namely, the high potential for human error and the time – intensive nature of radiological review.</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0"/>
            <a:ext cx="7772400" cy="944562"/>
          </a:xfrm>
        </p:spPr>
        <p:txBody>
          <a:bodyPr>
            <a:noAutofit/>
          </a:bodyPr>
          <a:lstStyle/>
          <a:p>
            <a:pPr algn="ctr"/>
            <a:r>
              <a:rPr lang="en-US" sz="3200" b="1" u="sng" dirty="0" err="1" smtClean="0">
                <a:solidFill>
                  <a:schemeClr val="tx1"/>
                </a:solidFill>
                <a:latin typeface="Times New Roman" pitchFamily="18" charset="0"/>
                <a:cs typeface="Times New Roman" pitchFamily="18" charset="0"/>
              </a:rPr>
              <a:t>Bibilography</a:t>
            </a:r>
            <a:r>
              <a:rPr lang="en-US" sz="3200" b="1" u="sng" dirty="0" smtClean="0">
                <a:solidFill>
                  <a:schemeClr val="tx1"/>
                </a:solidFill>
                <a:latin typeface="Times New Roman" pitchFamily="18" charset="0"/>
                <a:cs typeface="Times New Roman" pitchFamily="18" charset="0"/>
              </a:rPr>
              <a:t/>
            </a:r>
            <a:br>
              <a:rPr lang="en-US" sz="3200" b="1" u="sng" dirty="0" smtClean="0">
                <a:solidFill>
                  <a:schemeClr val="tx1"/>
                </a:solidFill>
                <a:latin typeface="Times New Roman" pitchFamily="18" charset="0"/>
                <a:cs typeface="Times New Roman" pitchFamily="18" charset="0"/>
              </a:rPr>
            </a:br>
            <a:endParaRPr lang="en-US" sz="3200" b="1" u="sng" dirty="0">
              <a:solidFill>
                <a:schemeClr val="tx1"/>
              </a:solidFill>
              <a:latin typeface="Times New Roman" pitchFamily="18" charset="0"/>
              <a:cs typeface="Times New Roman" pitchFamily="18" charset="0"/>
            </a:endParaRPr>
          </a:p>
        </p:txBody>
      </p:sp>
      <p:sp>
        <p:nvSpPr>
          <p:cNvPr id="3" name="Date Placeholder 2"/>
          <p:cNvSpPr>
            <a:spLocks noGrp="1"/>
          </p:cNvSpPr>
          <p:nvPr>
            <p:ph type="dt" sz="half" idx="10"/>
          </p:nvPr>
        </p:nvSpPr>
        <p:spPr/>
        <p:txBody>
          <a:bodyPr/>
          <a:lstStyle/>
          <a:p>
            <a:r>
              <a:rPr lang="en-US" dirty="0" smtClean="0"/>
              <a:t> 1 June 2026</a:t>
            </a:r>
            <a:endParaRPr lang="en-US" dirty="0"/>
          </a:p>
        </p:txBody>
      </p:sp>
      <p:sp>
        <p:nvSpPr>
          <p:cNvPr id="4" name="Slide Number Placeholder 3"/>
          <p:cNvSpPr>
            <a:spLocks noGrp="1"/>
          </p:cNvSpPr>
          <p:nvPr>
            <p:ph type="sldNum" sz="quarter" idx="12"/>
          </p:nvPr>
        </p:nvSpPr>
        <p:spPr>
          <a:solidFill>
            <a:srgbClr val="7030A0"/>
          </a:solidFill>
          <a:scene3d>
            <a:camera prst="orthographicFront"/>
            <a:lightRig rig="threePt" dir="t"/>
          </a:scene3d>
          <a:sp3d>
            <a:bevelT/>
          </a:sp3d>
        </p:spPr>
        <p:txBody>
          <a:bodyPr/>
          <a:lstStyle/>
          <a:p>
            <a:fld id="{846F2FBE-2846-4A92-A491-395E27355705}" type="slidenum">
              <a:rPr lang="en-US" smtClean="0"/>
              <a:pPr/>
              <a:t>24</a:t>
            </a:fld>
            <a:endParaRPr lang="en-US" dirty="0"/>
          </a:p>
        </p:txBody>
      </p:sp>
      <p:sp>
        <p:nvSpPr>
          <p:cNvPr id="5" name="Content Placeholder 4"/>
          <p:cNvSpPr>
            <a:spLocks noGrp="1"/>
          </p:cNvSpPr>
          <p:nvPr>
            <p:ph sz="quarter" idx="1"/>
          </p:nvPr>
        </p:nvSpPr>
        <p:spPr>
          <a:xfrm>
            <a:off x="914400" y="838200"/>
            <a:ext cx="7772400" cy="5181600"/>
          </a:xfrm>
        </p:spPr>
        <p:txBody>
          <a:bodyPr>
            <a:normAutofit fontScale="85000" lnSpcReduction="20000"/>
          </a:bodyPr>
          <a:lstStyle/>
          <a:p>
            <a:pPr>
              <a:buNone/>
            </a:pPr>
            <a:r>
              <a:rPr lang="en-US" b="1" dirty="0" smtClean="0"/>
              <a:t>Datasets</a:t>
            </a:r>
            <a:endParaRPr lang="en-US" b="1" i="1" dirty="0" smtClean="0"/>
          </a:p>
          <a:p>
            <a:pPr>
              <a:buClr>
                <a:srgbClr val="7030A0"/>
              </a:buClr>
              <a:buFont typeface="Wingdings" pitchFamily="2" charset="2"/>
              <a:buChar char="Ø"/>
            </a:pPr>
            <a:r>
              <a:rPr lang="en-US" dirty="0" err="1" smtClean="0"/>
              <a:t>Kaggle</a:t>
            </a:r>
            <a:r>
              <a:rPr lang="en-US" dirty="0" smtClean="0"/>
              <a:t> Brain MRI Dataset</a:t>
            </a:r>
            <a:br>
              <a:rPr lang="en-US" dirty="0" smtClean="0"/>
            </a:br>
            <a:r>
              <a:rPr lang="en-US" u="sng" dirty="0" smtClean="0">
                <a:hlinkClick r:id="rId2"/>
              </a:rPr>
              <a:t>https://www.kaggle.com/</a:t>
            </a:r>
            <a:endParaRPr lang="en-US" dirty="0" smtClean="0"/>
          </a:p>
          <a:p>
            <a:pPr lvl="0"/>
            <a:endParaRPr lang="en-US" dirty="0" smtClean="0"/>
          </a:p>
          <a:p>
            <a:pPr>
              <a:buNone/>
            </a:pPr>
            <a:r>
              <a:rPr lang="en-US" b="1" dirty="0" smtClean="0"/>
              <a:t>Tools and Libraries</a:t>
            </a:r>
            <a:endParaRPr lang="en-US" b="1" i="1" dirty="0" smtClean="0"/>
          </a:p>
          <a:p>
            <a:pPr lvl="0">
              <a:buClr>
                <a:srgbClr val="7030A0"/>
              </a:buClr>
              <a:buFont typeface="Wingdings" pitchFamily="2" charset="2"/>
              <a:buChar char="Ø"/>
            </a:pPr>
            <a:r>
              <a:rPr lang="en-US" dirty="0" smtClean="0"/>
              <a:t>Python Programming Language</a:t>
            </a:r>
            <a:br>
              <a:rPr lang="en-US" dirty="0" smtClean="0"/>
            </a:br>
            <a:r>
              <a:rPr lang="en-US" u="sng" dirty="0" smtClean="0">
                <a:hlinkClick r:id="rId3"/>
              </a:rPr>
              <a:t>https://www.python.org/</a:t>
            </a:r>
            <a:endParaRPr lang="en-US" dirty="0" smtClean="0"/>
          </a:p>
          <a:p>
            <a:pPr lvl="0">
              <a:buClr>
                <a:srgbClr val="7030A0"/>
              </a:buClr>
              <a:buFont typeface="Wingdings" pitchFamily="2" charset="2"/>
              <a:buChar char="Ø"/>
            </a:pPr>
            <a:r>
              <a:rPr lang="en-US" dirty="0" err="1" smtClean="0"/>
              <a:t>TensorFlow</a:t>
            </a:r>
            <a:r>
              <a:rPr lang="en-US" dirty="0" smtClean="0"/>
              <a:t/>
            </a:r>
            <a:br>
              <a:rPr lang="en-US" dirty="0" smtClean="0"/>
            </a:br>
            <a:r>
              <a:rPr lang="en-US" u="sng" dirty="0" smtClean="0">
                <a:hlinkClick r:id="rId4"/>
              </a:rPr>
              <a:t>https://www.tensorflow.org/</a:t>
            </a:r>
            <a:endParaRPr lang="en-US" dirty="0" smtClean="0"/>
          </a:p>
          <a:p>
            <a:pPr lvl="0">
              <a:buClr>
                <a:srgbClr val="7030A0"/>
              </a:buClr>
              <a:buFont typeface="Wingdings" pitchFamily="2" charset="2"/>
              <a:buChar char="Ø"/>
            </a:pPr>
            <a:r>
              <a:rPr lang="en-US" dirty="0" err="1" smtClean="0"/>
              <a:t>Keras</a:t>
            </a:r>
            <a:r>
              <a:rPr lang="en-US" dirty="0" smtClean="0"/>
              <a:t/>
            </a:r>
            <a:br>
              <a:rPr lang="en-US" dirty="0" smtClean="0"/>
            </a:br>
            <a:r>
              <a:rPr lang="en-US" u="sng" dirty="0" smtClean="0">
                <a:hlinkClick r:id="rId5"/>
              </a:rPr>
              <a:t>https://keras.io/</a:t>
            </a:r>
            <a:endParaRPr lang="en-US" dirty="0" smtClean="0"/>
          </a:p>
          <a:p>
            <a:pPr lvl="0">
              <a:buClr>
                <a:srgbClr val="7030A0"/>
              </a:buClr>
              <a:buFont typeface="Wingdings" pitchFamily="2" charset="2"/>
              <a:buChar char="Ø"/>
            </a:pPr>
            <a:r>
              <a:rPr lang="en-US" dirty="0" err="1" smtClean="0"/>
              <a:t>Scikit</a:t>
            </a:r>
            <a:r>
              <a:rPr lang="en-US" dirty="0" smtClean="0"/>
              <a:t>-learn</a:t>
            </a:r>
            <a:br>
              <a:rPr lang="en-US" dirty="0" smtClean="0"/>
            </a:br>
            <a:r>
              <a:rPr lang="en-US" u="sng" dirty="0" smtClean="0">
                <a:hlinkClick r:id="rId6"/>
              </a:rPr>
              <a:t>https://scikit-learn.org/</a:t>
            </a:r>
            <a:endParaRPr lang="en-US" dirty="0" smtClean="0"/>
          </a:p>
          <a:p>
            <a:pPr lvl="0">
              <a:buClr>
                <a:srgbClr val="7030A0"/>
              </a:buClr>
              <a:buFont typeface="Wingdings" pitchFamily="2" charset="2"/>
              <a:buChar char="Ø"/>
            </a:pPr>
            <a:r>
              <a:rPr lang="en-US" dirty="0" err="1" smtClean="0"/>
              <a:t>OpenCV</a:t>
            </a:r>
            <a:r>
              <a:rPr lang="en-US" dirty="0" smtClean="0"/>
              <a:t/>
            </a:r>
            <a:br>
              <a:rPr lang="en-US" dirty="0" smtClean="0"/>
            </a:br>
            <a:r>
              <a:rPr lang="en-US" u="sng" dirty="0" smtClean="0">
                <a:hlinkClick r:id="rId7"/>
              </a:rPr>
              <a:t>https://opencv.org/</a:t>
            </a:r>
            <a:endParaRPr lang="en-US" dirty="0" smtClean="0"/>
          </a:p>
          <a:p>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smtClean="0">
                <a:solidFill>
                  <a:schemeClr val="tx1"/>
                </a:solidFill>
              </a:rPr>
              <a:t>AI Tools Used</a:t>
            </a:r>
            <a:endParaRPr lang="en-US" sz="3200" dirty="0">
              <a:solidFill>
                <a:schemeClr val="tx1"/>
              </a:solidFill>
            </a:endParaRPr>
          </a:p>
        </p:txBody>
      </p:sp>
      <p:sp>
        <p:nvSpPr>
          <p:cNvPr id="3" name="Date Placeholder 2"/>
          <p:cNvSpPr>
            <a:spLocks noGrp="1"/>
          </p:cNvSpPr>
          <p:nvPr>
            <p:ph type="dt" sz="half" idx="10"/>
          </p:nvPr>
        </p:nvSpPr>
        <p:spPr/>
        <p:txBody>
          <a:bodyPr/>
          <a:lstStyle/>
          <a:p>
            <a:r>
              <a:rPr lang="en-US" dirty="0" smtClean="0"/>
              <a:t> 1 June 2026</a:t>
            </a:r>
            <a:endParaRPr lang="en-US" dirty="0"/>
          </a:p>
        </p:txBody>
      </p:sp>
      <p:sp>
        <p:nvSpPr>
          <p:cNvPr id="4" name="Slide Number Placeholder 3"/>
          <p:cNvSpPr>
            <a:spLocks noGrp="1"/>
          </p:cNvSpPr>
          <p:nvPr>
            <p:ph type="sldNum" sz="quarter" idx="12"/>
          </p:nvPr>
        </p:nvSpPr>
        <p:spPr>
          <a:solidFill>
            <a:srgbClr val="7030A0"/>
          </a:solidFill>
          <a:scene3d>
            <a:camera prst="orthographicFront"/>
            <a:lightRig rig="threePt" dir="t"/>
          </a:scene3d>
          <a:sp3d>
            <a:bevelT/>
          </a:sp3d>
        </p:spPr>
        <p:txBody>
          <a:bodyPr/>
          <a:lstStyle/>
          <a:p>
            <a:fld id="{846F2FBE-2846-4A92-A491-395E27355705}" type="slidenum">
              <a:rPr lang="en-US" smtClean="0"/>
              <a:pPr/>
              <a:t>25</a:t>
            </a:fld>
            <a:endParaRPr lang="en-US" dirty="0"/>
          </a:p>
        </p:txBody>
      </p:sp>
      <p:sp>
        <p:nvSpPr>
          <p:cNvPr id="5" name="Content Placeholder 4"/>
          <p:cNvSpPr>
            <a:spLocks noGrp="1"/>
          </p:cNvSpPr>
          <p:nvPr>
            <p:ph sz="quarter" idx="1"/>
          </p:nvPr>
        </p:nvSpPr>
        <p:spPr/>
        <p:txBody>
          <a:bodyPr/>
          <a:lstStyle/>
          <a:p>
            <a:pPr>
              <a:buNone/>
            </a:pPr>
            <a:r>
              <a:rPr lang="en-US" b="1" dirty="0" err="1" smtClean="0"/>
              <a:t>ChatGPT</a:t>
            </a:r>
            <a:r>
              <a:rPr lang="en-US" b="1" dirty="0" smtClean="0"/>
              <a:t> (AI Assistance Tool)</a:t>
            </a:r>
            <a:endParaRPr lang="en-US" dirty="0" smtClean="0"/>
          </a:p>
          <a:p>
            <a:pPr>
              <a:buNone/>
            </a:pPr>
            <a:r>
              <a:rPr lang="en-US" dirty="0" smtClean="0"/>
              <a:t> Used as an AI-based assistant for: </a:t>
            </a:r>
          </a:p>
          <a:p>
            <a:pPr lvl="0">
              <a:buClr>
                <a:srgbClr val="7030A0"/>
              </a:buClr>
              <a:buFont typeface="Wingdings" pitchFamily="2" charset="2"/>
              <a:buChar char="Ø"/>
            </a:pPr>
            <a:r>
              <a:rPr lang="en-US" dirty="0" smtClean="0"/>
              <a:t>Generating project documentation and reports </a:t>
            </a:r>
          </a:p>
          <a:p>
            <a:pPr lvl="0">
              <a:buClr>
                <a:srgbClr val="7030A0"/>
              </a:buClr>
              <a:buFont typeface="Wingdings" pitchFamily="2" charset="2"/>
              <a:buChar char="Ø"/>
            </a:pPr>
            <a:r>
              <a:rPr lang="en-US" dirty="0" smtClean="0"/>
              <a:t>Designing test cases and system modules </a:t>
            </a:r>
          </a:p>
          <a:p>
            <a:pPr lvl="0">
              <a:buClr>
                <a:srgbClr val="7030A0"/>
              </a:buClr>
              <a:buFont typeface="Wingdings" pitchFamily="2" charset="2"/>
              <a:buChar char="Ø"/>
            </a:pPr>
            <a:r>
              <a:rPr lang="en-US" dirty="0" smtClean="0"/>
              <a:t>Explaining concepts in simple language </a:t>
            </a:r>
          </a:p>
          <a:p>
            <a:pPr lvl="0">
              <a:buClr>
                <a:srgbClr val="7030A0"/>
              </a:buClr>
              <a:buFont typeface="Wingdings" pitchFamily="2" charset="2"/>
              <a:buChar char="Ø"/>
            </a:pPr>
            <a:r>
              <a:rPr lang="en-US" dirty="0" smtClean="0"/>
              <a:t>Assisting in coding structure and formatting </a:t>
            </a:r>
          </a:p>
          <a:p>
            <a:pPr>
              <a:buClr>
                <a:srgbClr val="7030A0"/>
              </a:buClr>
              <a:buFont typeface="Wingdings" pitchFamily="2" charset="2"/>
              <a:buChar char="Ø"/>
            </a:pPr>
            <a:r>
              <a:rPr lang="en-US" dirty="0" smtClean="0"/>
              <a:t> Helps in improving documentation quality and project clarity.</a:t>
            </a:r>
          </a:p>
          <a:p>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Date Placeholder 2"/>
          <p:cNvSpPr>
            <a:spLocks noGrp="1"/>
          </p:cNvSpPr>
          <p:nvPr>
            <p:ph type="dt" sz="half" idx="10"/>
          </p:nvPr>
        </p:nvSpPr>
        <p:spPr/>
        <p:txBody>
          <a:bodyPr/>
          <a:lstStyle/>
          <a:p>
            <a:r>
              <a:rPr lang="en-US" dirty="0" smtClean="0"/>
              <a:t> 1 June 2026</a:t>
            </a:r>
            <a:endParaRPr lang="en-US" dirty="0"/>
          </a:p>
        </p:txBody>
      </p:sp>
      <p:sp>
        <p:nvSpPr>
          <p:cNvPr id="4" name="Slide Number Placeholder 3"/>
          <p:cNvSpPr>
            <a:spLocks noGrp="1"/>
          </p:cNvSpPr>
          <p:nvPr>
            <p:ph type="sldNum" sz="quarter" idx="12"/>
          </p:nvPr>
        </p:nvSpPr>
        <p:spPr>
          <a:solidFill>
            <a:srgbClr val="7030A0"/>
          </a:solidFill>
          <a:scene3d>
            <a:camera prst="orthographicFront"/>
            <a:lightRig rig="threePt" dir="t"/>
          </a:scene3d>
          <a:sp3d>
            <a:bevelT/>
          </a:sp3d>
        </p:spPr>
        <p:txBody>
          <a:bodyPr/>
          <a:lstStyle/>
          <a:p>
            <a:fld id="{846F2FBE-2846-4A92-A491-395E27355705}" type="slidenum">
              <a:rPr lang="en-US" smtClean="0"/>
              <a:pPr/>
              <a:t>26</a:t>
            </a:fld>
            <a:endParaRPr lang="en-US"/>
          </a:p>
        </p:txBody>
      </p:sp>
      <p:sp>
        <p:nvSpPr>
          <p:cNvPr id="5" name="Content Placeholder 4"/>
          <p:cNvSpPr>
            <a:spLocks noGrp="1"/>
          </p:cNvSpPr>
          <p:nvPr>
            <p:ph sz="quarter" idx="1"/>
          </p:nvPr>
        </p:nvSpPr>
        <p:spPr/>
        <p:txBody>
          <a:bodyPr>
            <a:normAutofit fontScale="92500"/>
          </a:bodyPr>
          <a:lstStyle/>
          <a:p>
            <a:pPr>
              <a:buNone/>
            </a:pPr>
            <a:r>
              <a:rPr lang="en-US" b="1" dirty="0" err="1" smtClean="0"/>
              <a:t>GitHub</a:t>
            </a:r>
            <a:r>
              <a:rPr lang="en-US" b="1" dirty="0" smtClean="0"/>
              <a:t> Copilot:</a:t>
            </a:r>
            <a:endParaRPr lang="en-US" dirty="0" smtClean="0"/>
          </a:p>
          <a:p>
            <a:pPr>
              <a:buClr>
                <a:srgbClr val="7030A0"/>
              </a:buClr>
              <a:buFont typeface="Wingdings" pitchFamily="2" charset="2"/>
              <a:buChar char="Ø"/>
            </a:pPr>
            <a:r>
              <a:rPr lang="en-US" dirty="0" smtClean="0"/>
              <a:t> </a:t>
            </a:r>
            <a:r>
              <a:rPr lang="en-US" dirty="0" err="1" smtClean="0"/>
              <a:t>GitHub</a:t>
            </a:r>
            <a:r>
              <a:rPr lang="en-US" dirty="0" smtClean="0"/>
              <a:t> Copilot is an AI-powered code completion tool developed by </a:t>
            </a:r>
            <a:r>
              <a:rPr lang="en-US" dirty="0" err="1" smtClean="0"/>
              <a:t>GitHub</a:t>
            </a:r>
            <a:r>
              <a:rPr lang="en-US" dirty="0" smtClean="0"/>
              <a:t> and </a:t>
            </a:r>
            <a:r>
              <a:rPr lang="en-US" dirty="0" err="1" smtClean="0"/>
              <a:t>OpenAI</a:t>
            </a:r>
            <a:r>
              <a:rPr lang="en-US" dirty="0" smtClean="0"/>
              <a:t>.  It assists developers by suggesting code snippets, functions, and entire blocks of code while programming.</a:t>
            </a:r>
          </a:p>
          <a:p>
            <a:pPr>
              <a:buNone/>
            </a:pPr>
            <a:r>
              <a:rPr lang="en-US" b="1" dirty="0" err="1" smtClean="0"/>
              <a:t>AntiGravity</a:t>
            </a:r>
            <a:r>
              <a:rPr lang="en-US" b="1" dirty="0" smtClean="0"/>
              <a:t> (AI Development Tool / Experimental Feature)</a:t>
            </a:r>
          </a:p>
          <a:p>
            <a:pPr>
              <a:buClr>
                <a:srgbClr val="7030A0"/>
              </a:buClr>
              <a:buFont typeface="Wingdings" pitchFamily="2" charset="2"/>
              <a:buChar char="Ø"/>
            </a:pPr>
            <a:r>
              <a:rPr lang="en-US" dirty="0" err="1" smtClean="0"/>
              <a:t>AntiGravity</a:t>
            </a:r>
            <a:r>
              <a:rPr lang="en-US" dirty="0" smtClean="0"/>
              <a:t> refers to an experimental AI-assisted development concept/tool (or coding environment feature depending on usage context) that helps in building and managing software projects using AI-driven automation and suggestions.</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136093D3-B52C-097F-10D7-9685F97A17AE}"/>
              </a:ext>
            </a:extLst>
          </p:cNvPr>
          <p:cNvSpPr>
            <a:spLocks noGrp="1"/>
          </p:cNvSpPr>
          <p:nvPr>
            <p:ph type="dt" sz="half" idx="10"/>
          </p:nvPr>
        </p:nvSpPr>
        <p:spPr>
          <a:xfrm>
            <a:off x="6172200" y="6438900"/>
            <a:ext cx="2476500" cy="228600"/>
          </a:xfrm>
        </p:spPr>
        <p:txBody>
          <a:bodyPr/>
          <a:lstStyle/>
          <a:p>
            <a:r>
              <a:rPr lang="en-US" dirty="0" smtClean="0"/>
              <a:t>1 June 2026</a:t>
            </a:r>
            <a:endParaRPr lang="en-US" dirty="0"/>
          </a:p>
          <a:p>
            <a:endParaRPr lang="en-US" dirty="0"/>
          </a:p>
        </p:txBody>
      </p:sp>
      <p:sp>
        <p:nvSpPr>
          <p:cNvPr id="5" name="Slide Number Placeholder 4">
            <a:extLst>
              <a:ext uri="{FF2B5EF4-FFF2-40B4-BE49-F238E27FC236}">
                <a16:creationId xmlns="" xmlns:a16="http://schemas.microsoft.com/office/drawing/2014/main" id="{CB36D160-B9C1-DCDE-AB29-53ACB91E35EA}"/>
              </a:ext>
            </a:extLst>
          </p:cNvPr>
          <p:cNvSpPr>
            <a:spLocks noGrp="1"/>
          </p:cNvSpPr>
          <p:nvPr>
            <p:ph type="sldNum" sz="quarter" idx="12"/>
          </p:nvPr>
        </p:nvSpPr>
        <p:spPr>
          <a:solidFill>
            <a:srgbClr val="7030A0"/>
          </a:solidFill>
          <a:effectLst>
            <a:outerShdw blurRad="50800" dist="38100" dir="2700000" algn="tl" rotWithShape="0">
              <a:prstClr val="black">
                <a:alpha val="40000"/>
              </a:prstClr>
            </a:outerShdw>
          </a:effectLst>
          <a:scene3d>
            <a:camera prst="orthographicFront"/>
            <a:lightRig rig="threePt" dir="t"/>
          </a:scene3d>
          <a:sp3d>
            <a:bevelT/>
          </a:sp3d>
        </p:spPr>
        <p:txBody>
          <a:bodyPr/>
          <a:lstStyle/>
          <a:p>
            <a:fld id="{846F2FBE-2846-4A92-A491-395E27355705}" type="slidenum">
              <a:rPr lang="en-US" smtClean="0"/>
              <a:pPr/>
              <a:t>27</a:t>
            </a:fld>
            <a:endParaRPr lang="en-US" dirty="0"/>
          </a:p>
        </p:txBody>
      </p:sp>
      <p:sp>
        <p:nvSpPr>
          <p:cNvPr id="3" name="Content Placeholder 2">
            <a:extLst>
              <a:ext uri="{FF2B5EF4-FFF2-40B4-BE49-F238E27FC236}">
                <a16:creationId xmlns="" xmlns:a16="http://schemas.microsoft.com/office/drawing/2014/main" id="{E79DEF10-1D29-878D-C935-23B81B624D52}"/>
              </a:ext>
            </a:extLst>
          </p:cNvPr>
          <p:cNvSpPr>
            <a:spLocks noGrp="1"/>
          </p:cNvSpPr>
          <p:nvPr>
            <p:ph sz="quarter" idx="1"/>
          </p:nvPr>
        </p:nvSpPr>
        <p:spPr>
          <a:xfrm>
            <a:off x="228600" y="190500"/>
            <a:ext cx="8686800" cy="6019800"/>
          </a:xfrm>
          <a:ln/>
        </p:spPr>
        <p:style>
          <a:lnRef idx="2">
            <a:schemeClr val="dk1"/>
          </a:lnRef>
          <a:fillRef idx="1">
            <a:schemeClr val="lt1"/>
          </a:fillRef>
          <a:effectRef idx="0">
            <a:schemeClr val="dk1"/>
          </a:effectRef>
          <a:fontRef idx="minor">
            <a:schemeClr val="dk1"/>
          </a:fontRef>
        </p:style>
        <p:txBody>
          <a:bodyPr>
            <a:normAutofit/>
          </a:bodyPr>
          <a:lstStyle/>
          <a:p>
            <a:pPr marL="0" indent="0" algn="ctr">
              <a:buNone/>
            </a:pPr>
            <a:endParaRPr lang="en-US" sz="7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Bell MT" panose="02020503060305020303" pitchFamily="18" charset="0"/>
              <a:ea typeface="Verdana" panose="020B0604030504040204" pitchFamily="34" charset="0"/>
              <a:cs typeface="Times New Roman" panose="02020603050405020304" pitchFamily="18" charset="0"/>
            </a:endParaRPr>
          </a:p>
          <a:p>
            <a:pPr marL="0" indent="0" algn="ctr">
              <a:buNone/>
            </a:pPr>
            <a:endParaRPr lang="en-US" sz="7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Bell MT" panose="02020503060305020303" pitchFamily="18" charset="0"/>
              <a:ea typeface="Verdana" panose="020B0604030504040204" pitchFamily="34" charset="0"/>
              <a:cs typeface="Times New Roman" panose="02020603050405020304" pitchFamily="18" charset="0"/>
            </a:endParaRPr>
          </a:p>
          <a:p>
            <a:pPr marL="0" indent="0" algn="ctr">
              <a:buNone/>
            </a:pPr>
            <a:r>
              <a:rPr lang="en-US" sz="72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Bell MT" panose="02020503060305020303" pitchFamily="18" charset="0"/>
                <a:ea typeface="Verdana" panose="020B0604030504040204" pitchFamily="34" charset="0"/>
                <a:cs typeface="Times New Roman" panose="02020603050405020304" pitchFamily="18" charset="0"/>
              </a:rPr>
              <a:t>Thank You</a:t>
            </a:r>
          </a:p>
        </p:txBody>
      </p:sp>
    </p:spTree>
    <p:extLst>
      <p:ext uri="{BB962C8B-B14F-4D97-AF65-F5344CB8AC3E}">
        <p14:creationId xmlns="" xmlns:p14="http://schemas.microsoft.com/office/powerpoint/2010/main" val="1152095403"/>
      </p:ext>
    </p:extLst>
  </p:cSld>
  <p:clrMapOvr>
    <a:masterClrMapping/>
  </p:clrMapOvr>
  <mc:AlternateContent xmlns:mc="http://schemas.openxmlformats.org/markup-compatibility/2006">
    <mc:Choice xmlns=""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7016</TotalTime>
  <Words>1314</Words>
  <Application>Microsoft Office PowerPoint</Application>
  <PresentationFormat>On-screen Show (4:3)</PresentationFormat>
  <Paragraphs>217</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Equity</vt:lpstr>
      <vt:lpstr>Brain Tumor Detection Using Machine learning </vt:lpstr>
      <vt:lpstr>Slide 2</vt:lpstr>
      <vt:lpstr>Problem Statement</vt:lpstr>
      <vt:lpstr>Objectives</vt:lpstr>
      <vt:lpstr>Scope of the project</vt:lpstr>
      <vt:lpstr>Technologies</vt:lpstr>
      <vt:lpstr>Slide 7</vt:lpstr>
      <vt:lpstr>System Requirements</vt:lpstr>
      <vt:lpstr>Slide 9</vt:lpstr>
      <vt:lpstr>Methodology</vt:lpstr>
      <vt:lpstr>Architecture Design</vt:lpstr>
      <vt:lpstr>Modules of the project</vt:lpstr>
      <vt:lpstr>Screenshots</vt:lpstr>
      <vt:lpstr>Slide 14</vt:lpstr>
      <vt:lpstr>Slide 15</vt:lpstr>
      <vt:lpstr>Slide 16</vt:lpstr>
      <vt:lpstr>Slide 17</vt:lpstr>
      <vt:lpstr>Testing &amp; Results</vt:lpstr>
      <vt:lpstr>Advantages</vt:lpstr>
      <vt:lpstr>Challenge Faced</vt:lpstr>
      <vt:lpstr>Limitations </vt:lpstr>
      <vt:lpstr>Future Enhancements</vt:lpstr>
      <vt:lpstr>Conclusion</vt:lpstr>
      <vt:lpstr>Bibilography </vt:lpstr>
      <vt:lpstr>AI Tools Used</vt:lpstr>
      <vt:lpstr>Slide 26</vt:lpstr>
      <vt:lpstr>Slide 27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 loop and Closed loop CS</dc:title>
  <dc:creator>HCL</dc:creator>
  <cp:lastModifiedBy>um</cp:lastModifiedBy>
  <cp:revision>299</cp:revision>
  <dcterms:created xsi:type="dcterms:W3CDTF">2001-12-31T18:42:02Z</dcterms:created>
  <dcterms:modified xsi:type="dcterms:W3CDTF">2026-06-06T04:02:49Z</dcterms:modified>
</cp:coreProperties>
</file>